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870e4e42-4c05-d81e-a569-7677f1595954}">
          <p14:sldIdLst>
            <p14:sldId id="256"/>
          </p14:sldIdLst>
        </p14:section>
        <p14:section name="Problem" id="{6beb498f-0e70-9b5b-900d-2576b5c9b155}">
          <p14:sldIdLst>
            <p14:sldId id="257"/>
          </p14:sldIdLst>
        </p14:section>
        <p14:section name="Insight" id="{ebde2cca-dbe4-f142-ccaa-d6a243be95fb}">
          <p14:sldIdLst>
            <p14:sldId id="258"/>
          </p14:sldIdLst>
        </p14:section>
        <p14:section name="Use case" id="{d6ba14cd-797d-7306-a162-1dade08a0dd5}">
          <p14:sldIdLst>
            <p14:sldId id="259"/>
          </p14:sldIdLst>
        </p14:section>
        <p14:section name="Solution" id="{89fca8d7-aab0-8a30-dda2-99c73e68cf0c}">
          <p14:sldIdLst>
            <p14:sldId id="260"/>
          </p14:sldIdLst>
        </p14:section>
        <p14:section name="Architecture" id="{6ca15a0d-d7d0-e089-59aa-b2c116379faf}">
          <p14:sldIdLst>
            <p14:sldId id="261"/>
          </p14:sldIdLst>
        </p14:section>
        <p14:section name="Data and model" id="{b0fd7b27-4163-40ca-9b93-639638bb6882}">
          <p14:sldIdLst>
            <p14:sldId id="262"/>
            <p14:sldId id="263"/>
          </p14:sldIdLst>
        </p14:section>
        <p14:section name="Results" id="{06c1dd62-040e-195f-30fc-ce0ac4bbbbb2}">
          <p14:sldIdLst>
            <p14:sldId id="264"/>
            <p14:sldId id="265"/>
            <p14:sldId id="266"/>
          </p14:sldIdLst>
        </p14:section>
        <p14:section name="Responsible AI" id="{8dc4429d-c8ec-807f-7dff-1deaf64eb4d8}">
          <p14:sldIdLst>
            <p14:sldId id="267"/>
          </p14:sldIdLst>
        </p14:section>
        <p14:section name="Roadmap" id="{c3a60795-9c83-6eb5-8e29-1005611ac876}">
          <p14:sldIdLst>
            <p14:sldId id="268"/>
          </p14:sldIdLst>
        </p14:section>
        <p14:section name="Close" id="{ce7c387c-3183-dc75-521e-56a5166b26b7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313D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313D"/>
                </a:solidFill>
                <a:latin typeface="+mn-lt"/>
              </a:rPr>
              <a:t>7-day average sleep (hours)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Person A (usual 7.4 h)</c:v>
                </c:pt>
              </c:strCache>
            </c:strRef>
          </c:tx>
          <c:spPr>
            <a:solidFill>
              <a:srgbClr val="C8553D"/>
            </a:solidFill>
            <a:ln w="31750" cap="flat">
              <a:solidFill>
                <a:srgbClr val="C855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8553D"/>
              </a:solidFill>
              <a:ln w="9525" cap="flat">
                <a:solidFill>
                  <a:srgbClr val="C855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Sheet1!$A$2:$A$67</c:f>
              <c:multiLvlStrCache>
                <c:ptCount val="66"/>
                <c:lvl>
                  <c:pt idx="0">
                    <c:v>2 Mar</c:v>
                  </c:pt>
                  <c:pt idx="1">
                    <c:v>3 Mar</c:v>
                  </c:pt>
                  <c:pt idx="2">
                    <c:v>4 Mar</c:v>
                  </c:pt>
                  <c:pt idx="3">
                    <c:v>5 Mar</c:v>
                  </c:pt>
                  <c:pt idx="4">
                    <c:v>6 Mar</c:v>
                  </c:pt>
                  <c:pt idx="5">
                    <c:v>7 Mar</c:v>
                  </c:pt>
                  <c:pt idx="6">
                    <c:v>8 Mar</c:v>
                  </c:pt>
                  <c:pt idx="7">
                    <c:v>9 Mar</c:v>
                  </c:pt>
                  <c:pt idx="8">
                    <c:v>10 Mar</c:v>
                  </c:pt>
                  <c:pt idx="9">
                    <c:v>11 Mar</c:v>
                  </c:pt>
                  <c:pt idx="10">
                    <c:v>12 Mar</c:v>
                  </c:pt>
                  <c:pt idx="11">
                    <c:v>13 Mar</c:v>
                  </c:pt>
                  <c:pt idx="12">
                    <c:v>14 Mar</c:v>
                  </c:pt>
                  <c:pt idx="13">
                    <c:v>15 Mar</c:v>
                  </c:pt>
                  <c:pt idx="14">
                    <c:v>16 Mar</c:v>
                  </c:pt>
                  <c:pt idx="15">
                    <c:v>17 Mar</c:v>
                  </c:pt>
                  <c:pt idx="16">
                    <c:v>18 Mar</c:v>
                  </c:pt>
                  <c:pt idx="17">
                    <c:v>19 Mar</c:v>
                  </c:pt>
                  <c:pt idx="18">
                    <c:v>20 Mar</c:v>
                  </c:pt>
                  <c:pt idx="19">
                    <c:v>21 Mar</c:v>
                  </c:pt>
                  <c:pt idx="20">
                    <c:v>22 Mar</c:v>
                  </c:pt>
                  <c:pt idx="21">
                    <c:v>23 Mar</c:v>
                  </c:pt>
                  <c:pt idx="22">
                    <c:v>24 Mar</c:v>
                  </c:pt>
                  <c:pt idx="23">
                    <c:v>25 Mar</c:v>
                  </c:pt>
                  <c:pt idx="24">
                    <c:v>26 Mar</c:v>
                  </c:pt>
                  <c:pt idx="25">
                    <c:v>27 Mar</c:v>
                  </c:pt>
                  <c:pt idx="26">
                    <c:v>28 Mar</c:v>
                  </c:pt>
                  <c:pt idx="27">
                    <c:v>29 Mar</c:v>
                  </c:pt>
                  <c:pt idx="28">
                    <c:v>30 Mar</c:v>
                  </c:pt>
                  <c:pt idx="29">
                    <c:v>31 Mar</c:v>
                  </c:pt>
                  <c:pt idx="30">
                    <c:v>1 Apr</c:v>
                  </c:pt>
                  <c:pt idx="31">
                    <c:v>2 Apr</c:v>
                  </c:pt>
                  <c:pt idx="32">
                    <c:v>3 Apr</c:v>
                  </c:pt>
                  <c:pt idx="33">
                    <c:v>4 Apr</c:v>
                  </c:pt>
                  <c:pt idx="34">
                    <c:v>5 Apr</c:v>
                  </c:pt>
                  <c:pt idx="35">
                    <c:v>6 Apr</c:v>
                  </c:pt>
                  <c:pt idx="36">
                    <c:v>7 Apr</c:v>
                  </c:pt>
                  <c:pt idx="37">
                    <c:v>8 Apr</c:v>
                  </c:pt>
                  <c:pt idx="38">
                    <c:v>9 Apr</c:v>
                  </c:pt>
                  <c:pt idx="39">
                    <c:v>10 Apr</c:v>
                  </c:pt>
                  <c:pt idx="40">
                    <c:v>11 Apr</c:v>
                  </c:pt>
                  <c:pt idx="41">
                    <c:v>12 Apr</c:v>
                  </c:pt>
                  <c:pt idx="42">
                    <c:v>13 Apr</c:v>
                  </c:pt>
                  <c:pt idx="43">
                    <c:v>14 Apr</c:v>
                  </c:pt>
                  <c:pt idx="44">
                    <c:v>15 Apr</c:v>
                  </c:pt>
                  <c:pt idx="45">
                    <c:v>16 Apr</c:v>
                  </c:pt>
                  <c:pt idx="46">
                    <c:v>17 Apr</c:v>
                  </c:pt>
                  <c:pt idx="47">
                    <c:v>18 Apr</c:v>
                  </c:pt>
                  <c:pt idx="48">
                    <c:v>19 Apr</c:v>
                  </c:pt>
                  <c:pt idx="49">
                    <c:v>20 Apr</c:v>
                  </c:pt>
                  <c:pt idx="50">
                    <c:v>21 Apr</c:v>
                  </c:pt>
                  <c:pt idx="51">
                    <c:v>22 Apr</c:v>
                  </c:pt>
                  <c:pt idx="52">
                    <c:v>23 Apr</c:v>
                  </c:pt>
                  <c:pt idx="53">
                    <c:v>24 Apr</c:v>
                  </c:pt>
                  <c:pt idx="54">
                    <c:v>25 Apr</c:v>
                  </c:pt>
                  <c:pt idx="55">
                    <c:v>26 Apr</c:v>
                  </c:pt>
                  <c:pt idx="56">
                    <c:v>27 Apr</c:v>
                  </c:pt>
                  <c:pt idx="57">
                    <c:v>28 Apr</c:v>
                  </c:pt>
                  <c:pt idx="58">
                    <c:v>29 Apr</c:v>
                  </c:pt>
                  <c:pt idx="59">
                    <c:v>30 Apr</c:v>
                  </c:pt>
                  <c:pt idx="60">
                    <c:v>1 May</c:v>
                  </c:pt>
                  <c:pt idx="61">
                    <c:v>2 May</c:v>
                  </c:pt>
                  <c:pt idx="62">
                    <c:v>3 May</c:v>
                  </c:pt>
                  <c:pt idx="63">
                    <c:v>4 May</c:v>
                  </c:pt>
                  <c:pt idx="64">
                    <c:v>5 May</c:v>
                  </c:pt>
                  <c:pt idx="65">
                    <c:v>6 May</c:v>
                  </c:pt>
                </c:lvl>
              </c:multiLvlStrCache>
            </c:multiLvlStrRef>
          </c:cat>
          <c:val>
            <c:numRef>
              <c:f>Sheet1!$B$2:$B$67</c:f>
              <c:numCache>
                <c:formatCode>General</c:formatCode>
                <c:ptCount val="66"/>
                <c:pt idx="0">
                  <c:v>7.14</c:v>
                </c:pt>
                <c:pt idx="1">
                  <c:v>6.93</c:v>
                </c:pt>
                <c:pt idx="2">
                  <c:v>7.09</c:v>
                </c:pt>
                <c:pt idx="3">
                  <c:v>7.09</c:v>
                </c:pt>
                <c:pt idx="4">
                  <c:v>7.18</c:v>
                </c:pt>
                <c:pt idx="5">
                  <c:v>7.27</c:v>
                </c:pt>
                <c:pt idx="6">
                  <c:v>7.34</c:v>
                </c:pt>
                <c:pt idx="7">
                  <c:v>7.17</c:v>
                </c:pt>
                <c:pt idx="8">
                  <c:v>7.28</c:v>
                </c:pt>
                <c:pt idx="9">
                  <c:v>7.35</c:v>
                </c:pt>
                <c:pt idx="10">
                  <c:v>7.69</c:v>
                </c:pt>
                <c:pt idx="11">
                  <c:v>7.81</c:v>
                </c:pt>
                <c:pt idx="12">
                  <c:v>7.89</c:v>
                </c:pt>
                <c:pt idx="13">
                  <c:v>7.88</c:v>
                </c:pt>
                <c:pt idx="14">
                  <c:v>7.9</c:v>
                </c:pt>
                <c:pt idx="15">
                  <c:v>8</c:v>
                </c:pt>
                <c:pt idx="16">
                  <c:v>7.92</c:v>
                </c:pt>
                <c:pt idx="17">
                  <c:v>7.71</c:v>
                </c:pt>
                <c:pt idx="18">
                  <c:v>7.55</c:v>
                </c:pt>
                <c:pt idx="19">
                  <c:v>7.42</c:v>
                </c:pt>
                <c:pt idx="20">
                  <c:v>7.29</c:v>
                </c:pt>
                <c:pt idx="21">
                  <c:v>7.53</c:v>
                </c:pt>
                <c:pt idx="22">
                  <c:v>7.37</c:v>
                </c:pt>
                <c:pt idx="23">
                  <c:v>7.46</c:v>
                </c:pt>
                <c:pt idx="24">
                  <c:v>7.49</c:v>
                </c:pt>
                <c:pt idx="25">
                  <c:v>7.54</c:v>
                </c:pt>
                <c:pt idx="26">
                  <c:v>7.61</c:v>
                </c:pt>
                <c:pt idx="27">
                  <c:v>7.68</c:v>
                </c:pt>
                <c:pt idx="28">
                  <c:v>7.4</c:v>
                </c:pt>
                <c:pt idx="29">
                  <c:v>7.44</c:v>
                </c:pt>
                <c:pt idx="30">
                  <c:v>7.46</c:v>
                </c:pt>
                <c:pt idx="31">
                  <c:v>7.37</c:v>
                </c:pt>
                <c:pt idx="32">
                  <c:v>7.4</c:v>
                </c:pt>
                <c:pt idx="33">
                  <c:v>7.42</c:v>
                </c:pt>
                <c:pt idx="34">
                  <c:v>7.45</c:v>
                </c:pt>
                <c:pt idx="35">
                  <c:v>7.49</c:v>
                </c:pt>
                <c:pt idx="36">
                  <c:v>7.76</c:v>
                </c:pt>
                <c:pt idx="37">
                  <c:v>7.83</c:v>
                </c:pt>
                <c:pt idx="38">
                  <c:v>7.84</c:v>
                </c:pt>
                <c:pt idx="39">
                  <c:v>7.75</c:v>
                </c:pt>
                <c:pt idx="40">
                  <c:v>7.74</c:v>
                </c:pt>
                <c:pt idx="41">
                  <c:v>7.81</c:v>
                </c:pt>
                <c:pt idx="42">
                  <c:v>7.88</c:v>
                </c:pt>
                <c:pt idx="43">
                  <c:v>7.73</c:v>
                </c:pt>
                <c:pt idx="44">
                  <c:v>7.56</c:v>
                </c:pt>
                <c:pt idx="45">
                  <c:v>7.62</c:v>
                </c:pt>
                <c:pt idx="46">
                  <c:v>7.55</c:v>
                </c:pt>
                <c:pt idx="47">
                  <c:v>7.4</c:v>
                </c:pt>
                <c:pt idx="48">
                  <c:v>7.15</c:v>
                </c:pt>
                <c:pt idx="49">
                  <c:v>6.95</c:v>
                </c:pt>
                <c:pt idx="50">
                  <c:v>6.65</c:v>
                </c:pt>
                <c:pt idx="51">
                  <c:v>6.83</c:v>
                </c:pt>
                <c:pt idx="52">
                  <c:v>6.57</c:v>
                </c:pt>
                <c:pt idx="53">
                  <c:v>6.53</c:v>
                </c:pt>
                <c:pt idx="54">
                  <c:v>6.56</c:v>
                </c:pt>
                <c:pt idx="55">
                  <c:v>6.68</c:v>
                </c:pt>
                <c:pt idx="56">
                  <c:v>6.82</c:v>
                </c:pt>
                <c:pt idx="57">
                  <c:v>6.79</c:v>
                </c:pt>
                <c:pt idx="58">
                  <c:v>6.52</c:v>
                </c:pt>
                <c:pt idx="59">
                  <c:v>6.67</c:v>
                </c:pt>
                <c:pt idx="60">
                  <c:v>6.64</c:v>
                </c:pt>
                <c:pt idx="61">
                  <c:v>6.74</c:v>
                </c:pt>
                <c:pt idx="62">
                  <c:v>6.88</c:v>
                </c:pt>
                <c:pt idx="63">
                  <c:v>6.82</c:v>
                </c:pt>
                <c:pt idx="64">
                  <c:v>7</c:v>
                </c:pt>
                <c:pt idx="65">
                  <c:v>7.07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Person B (usual 6.0 h)</c:v>
                </c:pt>
              </c:strCache>
            </c:strRef>
          </c:tx>
          <c:spPr>
            <a:solidFill>
              <a:srgbClr val="0F6E6E"/>
            </a:solidFill>
            <a:ln w="31750" cap="flat">
              <a:solidFill>
                <a:srgbClr val="0F6E6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F6E6E"/>
              </a:solidFill>
              <a:ln w="9525" cap="flat">
                <a:solidFill>
                  <a:srgbClr val="0F6E6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Sheet1!$A$2:$A$67</c:f>
              <c:multiLvlStrCache>
                <c:ptCount val="66"/>
                <c:lvl>
                  <c:pt idx="0">
                    <c:v>2 Mar</c:v>
                  </c:pt>
                  <c:pt idx="1">
                    <c:v>3 Mar</c:v>
                  </c:pt>
                  <c:pt idx="2">
                    <c:v>4 Mar</c:v>
                  </c:pt>
                  <c:pt idx="3">
                    <c:v>5 Mar</c:v>
                  </c:pt>
                  <c:pt idx="4">
                    <c:v>6 Mar</c:v>
                  </c:pt>
                  <c:pt idx="5">
                    <c:v>7 Mar</c:v>
                  </c:pt>
                  <c:pt idx="6">
                    <c:v>8 Mar</c:v>
                  </c:pt>
                  <c:pt idx="7">
                    <c:v>9 Mar</c:v>
                  </c:pt>
                  <c:pt idx="8">
                    <c:v>10 Mar</c:v>
                  </c:pt>
                  <c:pt idx="9">
                    <c:v>11 Mar</c:v>
                  </c:pt>
                  <c:pt idx="10">
                    <c:v>12 Mar</c:v>
                  </c:pt>
                  <c:pt idx="11">
                    <c:v>13 Mar</c:v>
                  </c:pt>
                  <c:pt idx="12">
                    <c:v>14 Mar</c:v>
                  </c:pt>
                  <c:pt idx="13">
                    <c:v>15 Mar</c:v>
                  </c:pt>
                  <c:pt idx="14">
                    <c:v>16 Mar</c:v>
                  </c:pt>
                  <c:pt idx="15">
                    <c:v>17 Mar</c:v>
                  </c:pt>
                  <c:pt idx="16">
                    <c:v>18 Mar</c:v>
                  </c:pt>
                  <c:pt idx="17">
                    <c:v>19 Mar</c:v>
                  </c:pt>
                  <c:pt idx="18">
                    <c:v>20 Mar</c:v>
                  </c:pt>
                  <c:pt idx="19">
                    <c:v>21 Mar</c:v>
                  </c:pt>
                  <c:pt idx="20">
                    <c:v>22 Mar</c:v>
                  </c:pt>
                  <c:pt idx="21">
                    <c:v>23 Mar</c:v>
                  </c:pt>
                  <c:pt idx="22">
                    <c:v>24 Mar</c:v>
                  </c:pt>
                  <c:pt idx="23">
                    <c:v>25 Mar</c:v>
                  </c:pt>
                  <c:pt idx="24">
                    <c:v>26 Mar</c:v>
                  </c:pt>
                  <c:pt idx="25">
                    <c:v>27 Mar</c:v>
                  </c:pt>
                  <c:pt idx="26">
                    <c:v>28 Mar</c:v>
                  </c:pt>
                  <c:pt idx="27">
                    <c:v>29 Mar</c:v>
                  </c:pt>
                  <c:pt idx="28">
                    <c:v>30 Mar</c:v>
                  </c:pt>
                  <c:pt idx="29">
                    <c:v>31 Mar</c:v>
                  </c:pt>
                  <c:pt idx="30">
                    <c:v>1 Apr</c:v>
                  </c:pt>
                  <c:pt idx="31">
                    <c:v>2 Apr</c:v>
                  </c:pt>
                  <c:pt idx="32">
                    <c:v>3 Apr</c:v>
                  </c:pt>
                  <c:pt idx="33">
                    <c:v>4 Apr</c:v>
                  </c:pt>
                  <c:pt idx="34">
                    <c:v>5 Apr</c:v>
                  </c:pt>
                  <c:pt idx="35">
                    <c:v>6 Apr</c:v>
                  </c:pt>
                  <c:pt idx="36">
                    <c:v>7 Apr</c:v>
                  </c:pt>
                  <c:pt idx="37">
                    <c:v>8 Apr</c:v>
                  </c:pt>
                  <c:pt idx="38">
                    <c:v>9 Apr</c:v>
                  </c:pt>
                  <c:pt idx="39">
                    <c:v>10 Apr</c:v>
                  </c:pt>
                  <c:pt idx="40">
                    <c:v>11 Apr</c:v>
                  </c:pt>
                  <c:pt idx="41">
                    <c:v>12 Apr</c:v>
                  </c:pt>
                  <c:pt idx="42">
                    <c:v>13 Apr</c:v>
                  </c:pt>
                  <c:pt idx="43">
                    <c:v>14 Apr</c:v>
                  </c:pt>
                  <c:pt idx="44">
                    <c:v>15 Apr</c:v>
                  </c:pt>
                  <c:pt idx="45">
                    <c:v>16 Apr</c:v>
                  </c:pt>
                  <c:pt idx="46">
                    <c:v>17 Apr</c:v>
                  </c:pt>
                  <c:pt idx="47">
                    <c:v>18 Apr</c:v>
                  </c:pt>
                  <c:pt idx="48">
                    <c:v>19 Apr</c:v>
                  </c:pt>
                  <c:pt idx="49">
                    <c:v>20 Apr</c:v>
                  </c:pt>
                  <c:pt idx="50">
                    <c:v>21 Apr</c:v>
                  </c:pt>
                  <c:pt idx="51">
                    <c:v>22 Apr</c:v>
                  </c:pt>
                  <c:pt idx="52">
                    <c:v>23 Apr</c:v>
                  </c:pt>
                  <c:pt idx="53">
                    <c:v>24 Apr</c:v>
                  </c:pt>
                  <c:pt idx="54">
                    <c:v>25 Apr</c:v>
                  </c:pt>
                  <c:pt idx="55">
                    <c:v>26 Apr</c:v>
                  </c:pt>
                  <c:pt idx="56">
                    <c:v>27 Apr</c:v>
                  </c:pt>
                  <c:pt idx="57">
                    <c:v>28 Apr</c:v>
                  </c:pt>
                  <c:pt idx="58">
                    <c:v>29 Apr</c:v>
                  </c:pt>
                  <c:pt idx="59">
                    <c:v>30 Apr</c:v>
                  </c:pt>
                  <c:pt idx="60">
                    <c:v>1 May</c:v>
                  </c:pt>
                  <c:pt idx="61">
                    <c:v>2 May</c:v>
                  </c:pt>
                  <c:pt idx="62">
                    <c:v>3 May</c:v>
                  </c:pt>
                  <c:pt idx="63">
                    <c:v>4 May</c:v>
                  </c:pt>
                  <c:pt idx="64">
                    <c:v>5 May</c:v>
                  </c:pt>
                  <c:pt idx="65">
                    <c:v>6 May</c:v>
                  </c:pt>
                </c:lvl>
              </c:multiLvlStrCache>
            </c:multiLvlStrRef>
          </c:cat>
          <c:val>
            <c:numRef>
              <c:f>Sheet1!$C$2:$C$67</c:f>
              <c:numCache>
                <c:formatCode>General</c:formatCode>
                <c:ptCount val="66"/>
                <c:pt idx="0">
                  <c:v>6.51</c:v>
                </c:pt>
                <c:pt idx="1">
                  <c:v>6.53</c:v>
                </c:pt>
                <c:pt idx="2">
                  <c:v>6.31</c:v>
                </c:pt>
                <c:pt idx="3">
                  <c:v>6.38</c:v>
                </c:pt>
                <c:pt idx="4">
                  <c:v>6.24</c:v>
                </c:pt>
                <c:pt idx="5">
                  <c:v>6.21</c:v>
                </c:pt>
                <c:pt idx="6">
                  <c:v>6</c:v>
                </c:pt>
                <c:pt idx="7">
                  <c:v>5.98</c:v>
                </c:pt>
                <c:pt idx="8">
                  <c:v>5.75</c:v>
                </c:pt>
                <c:pt idx="9">
                  <c:v>5.75</c:v>
                </c:pt>
                <c:pt idx="10">
                  <c:v>5.8</c:v>
                </c:pt>
                <c:pt idx="11">
                  <c:v>5.7</c:v>
                </c:pt>
                <c:pt idx="12">
                  <c:v>5.89</c:v>
                </c:pt>
                <c:pt idx="13">
                  <c:v>6.13</c:v>
                </c:pt>
                <c:pt idx="14">
                  <c:v>6.27</c:v>
                </c:pt>
                <c:pt idx="15">
                  <c:v>6.46</c:v>
                </c:pt>
                <c:pt idx="16">
                  <c:v>6.72</c:v>
                </c:pt>
                <c:pt idx="17">
                  <c:v>6.5</c:v>
                </c:pt>
                <c:pt idx="18">
                  <c:v>6.4</c:v>
                </c:pt>
                <c:pt idx="19">
                  <c:v>6.25</c:v>
                </c:pt>
                <c:pt idx="20">
                  <c:v>6.33</c:v>
                </c:pt>
                <c:pt idx="21">
                  <c:v>5.97</c:v>
                </c:pt>
                <c:pt idx="22">
                  <c:v>5.87</c:v>
                </c:pt>
                <c:pt idx="23">
                  <c:v>5.75</c:v>
                </c:pt>
                <c:pt idx="24">
                  <c:v>5.71</c:v>
                </c:pt>
                <c:pt idx="25">
                  <c:v>5.69</c:v>
                </c:pt>
                <c:pt idx="26">
                  <c:v>5.49</c:v>
                </c:pt>
                <c:pt idx="27">
                  <c:v>5.37</c:v>
                </c:pt>
                <c:pt idx="28">
                  <c:v>5.4</c:v>
                </c:pt>
                <c:pt idx="29">
                  <c:v>5.43</c:v>
                </c:pt>
                <c:pt idx="30">
                  <c:v>5.44</c:v>
                </c:pt>
                <c:pt idx="31">
                  <c:v>5.45</c:v>
                </c:pt>
                <c:pt idx="32">
                  <c:v>5.34</c:v>
                </c:pt>
                <c:pt idx="33">
                  <c:v>5.38</c:v>
                </c:pt>
                <c:pt idx="34">
                  <c:v>5.19</c:v>
                </c:pt>
                <c:pt idx="35">
                  <c:v>5.19</c:v>
                </c:pt>
                <c:pt idx="36">
                  <c:v>5.01</c:v>
                </c:pt>
                <c:pt idx="37">
                  <c:v>4.92</c:v>
                </c:pt>
                <c:pt idx="38">
                  <c:v>4.98</c:v>
                </c:pt>
                <c:pt idx="39">
                  <c:v>5.03</c:v>
                </c:pt>
                <c:pt idx="40">
                  <c:v>4.96</c:v>
                </c:pt>
                <c:pt idx="41">
                  <c:v>5.11</c:v>
                </c:pt>
                <c:pt idx="42">
                  <c:v>5.27</c:v>
                </c:pt>
                <c:pt idx="43">
                  <c:v>5.37</c:v>
                </c:pt>
                <c:pt idx="44">
                  <c:v>5.38</c:v>
                </c:pt>
                <c:pt idx="45">
                  <c:v>5.49</c:v>
                </c:pt>
                <c:pt idx="46">
                  <c:v>5.8</c:v>
                </c:pt>
                <c:pt idx="47">
                  <c:v>6.03</c:v>
                </c:pt>
                <c:pt idx="48">
                  <c:v>5.96</c:v>
                </c:pt>
                <c:pt idx="49">
                  <c:v>5.94</c:v>
                </c:pt>
                <c:pt idx="50">
                  <c:v>5.99</c:v>
                </c:pt>
                <c:pt idx="51">
                  <c:v>5.95</c:v>
                </c:pt>
                <c:pt idx="52">
                  <c:v>6</c:v>
                </c:pt>
                <c:pt idx="53">
                  <c:v>5.82</c:v>
                </c:pt>
                <c:pt idx="54">
                  <c:v>5.85</c:v>
                </c:pt>
                <c:pt idx="55">
                  <c:v>5.9</c:v>
                </c:pt>
                <c:pt idx="56">
                  <c:v>5.89</c:v>
                </c:pt>
                <c:pt idx="57">
                  <c:v>5.85</c:v>
                </c:pt>
                <c:pt idx="58">
                  <c:v>5.94</c:v>
                </c:pt>
                <c:pt idx="59">
                  <c:v>5.82</c:v>
                </c:pt>
                <c:pt idx="60">
                  <c:v>5.93</c:v>
                </c:pt>
                <c:pt idx="61">
                  <c:v>5.74</c:v>
                </c:pt>
                <c:pt idx="62">
                  <c:v>5.77</c:v>
                </c:pt>
                <c:pt idx="63">
                  <c:v>5.68</c:v>
                </c:pt>
                <c:pt idx="64">
                  <c:v>5.6</c:v>
                </c:pt>
                <c:pt idx="65">
                  <c:v>5.71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Population cut-off (6 h)</c:v>
                </c:pt>
              </c:strCache>
            </c:strRef>
          </c:tx>
          <c:spPr>
            <a:solidFill>
              <a:srgbClr val="5B6B73"/>
            </a:solidFill>
            <a:ln w="31750" cap="flat">
              <a:solidFill>
                <a:srgbClr val="5B6B7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B6B73"/>
              </a:solidFill>
              <a:ln w="9525" cap="flat">
                <a:solidFill>
                  <a:srgbClr val="5B6B7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Sheet1!$A$2:$A$67</c:f>
              <c:multiLvlStrCache>
                <c:ptCount val="66"/>
                <c:lvl>
                  <c:pt idx="0">
                    <c:v>2 Mar</c:v>
                  </c:pt>
                  <c:pt idx="1">
                    <c:v>3 Mar</c:v>
                  </c:pt>
                  <c:pt idx="2">
                    <c:v>4 Mar</c:v>
                  </c:pt>
                  <c:pt idx="3">
                    <c:v>5 Mar</c:v>
                  </c:pt>
                  <c:pt idx="4">
                    <c:v>6 Mar</c:v>
                  </c:pt>
                  <c:pt idx="5">
                    <c:v>7 Mar</c:v>
                  </c:pt>
                  <c:pt idx="6">
                    <c:v>8 Mar</c:v>
                  </c:pt>
                  <c:pt idx="7">
                    <c:v>9 Mar</c:v>
                  </c:pt>
                  <c:pt idx="8">
                    <c:v>10 Mar</c:v>
                  </c:pt>
                  <c:pt idx="9">
                    <c:v>11 Mar</c:v>
                  </c:pt>
                  <c:pt idx="10">
                    <c:v>12 Mar</c:v>
                  </c:pt>
                  <c:pt idx="11">
                    <c:v>13 Mar</c:v>
                  </c:pt>
                  <c:pt idx="12">
                    <c:v>14 Mar</c:v>
                  </c:pt>
                  <c:pt idx="13">
                    <c:v>15 Mar</c:v>
                  </c:pt>
                  <c:pt idx="14">
                    <c:v>16 Mar</c:v>
                  </c:pt>
                  <c:pt idx="15">
                    <c:v>17 Mar</c:v>
                  </c:pt>
                  <c:pt idx="16">
                    <c:v>18 Mar</c:v>
                  </c:pt>
                  <c:pt idx="17">
                    <c:v>19 Mar</c:v>
                  </c:pt>
                  <c:pt idx="18">
                    <c:v>20 Mar</c:v>
                  </c:pt>
                  <c:pt idx="19">
                    <c:v>21 Mar</c:v>
                  </c:pt>
                  <c:pt idx="20">
                    <c:v>22 Mar</c:v>
                  </c:pt>
                  <c:pt idx="21">
                    <c:v>23 Mar</c:v>
                  </c:pt>
                  <c:pt idx="22">
                    <c:v>24 Mar</c:v>
                  </c:pt>
                  <c:pt idx="23">
                    <c:v>25 Mar</c:v>
                  </c:pt>
                  <c:pt idx="24">
                    <c:v>26 Mar</c:v>
                  </c:pt>
                  <c:pt idx="25">
                    <c:v>27 Mar</c:v>
                  </c:pt>
                  <c:pt idx="26">
                    <c:v>28 Mar</c:v>
                  </c:pt>
                  <c:pt idx="27">
                    <c:v>29 Mar</c:v>
                  </c:pt>
                  <c:pt idx="28">
                    <c:v>30 Mar</c:v>
                  </c:pt>
                  <c:pt idx="29">
                    <c:v>31 Mar</c:v>
                  </c:pt>
                  <c:pt idx="30">
                    <c:v>1 Apr</c:v>
                  </c:pt>
                  <c:pt idx="31">
                    <c:v>2 Apr</c:v>
                  </c:pt>
                  <c:pt idx="32">
                    <c:v>3 Apr</c:v>
                  </c:pt>
                  <c:pt idx="33">
                    <c:v>4 Apr</c:v>
                  </c:pt>
                  <c:pt idx="34">
                    <c:v>5 Apr</c:v>
                  </c:pt>
                  <c:pt idx="35">
                    <c:v>6 Apr</c:v>
                  </c:pt>
                  <c:pt idx="36">
                    <c:v>7 Apr</c:v>
                  </c:pt>
                  <c:pt idx="37">
                    <c:v>8 Apr</c:v>
                  </c:pt>
                  <c:pt idx="38">
                    <c:v>9 Apr</c:v>
                  </c:pt>
                  <c:pt idx="39">
                    <c:v>10 Apr</c:v>
                  </c:pt>
                  <c:pt idx="40">
                    <c:v>11 Apr</c:v>
                  </c:pt>
                  <c:pt idx="41">
                    <c:v>12 Apr</c:v>
                  </c:pt>
                  <c:pt idx="42">
                    <c:v>13 Apr</c:v>
                  </c:pt>
                  <c:pt idx="43">
                    <c:v>14 Apr</c:v>
                  </c:pt>
                  <c:pt idx="44">
                    <c:v>15 Apr</c:v>
                  </c:pt>
                  <c:pt idx="45">
                    <c:v>16 Apr</c:v>
                  </c:pt>
                  <c:pt idx="46">
                    <c:v>17 Apr</c:v>
                  </c:pt>
                  <c:pt idx="47">
                    <c:v>18 Apr</c:v>
                  </c:pt>
                  <c:pt idx="48">
                    <c:v>19 Apr</c:v>
                  </c:pt>
                  <c:pt idx="49">
                    <c:v>20 Apr</c:v>
                  </c:pt>
                  <c:pt idx="50">
                    <c:v>21 Apr</c:v>
                  </c:pt>
                  <c:pt idx="51">
                    <c:v>22 Apr</c:v>
                  </c:pt>
                  <c:pt idx="52">
                    <c:v>23 Apr</c:v>
                  </c:pt>
                  <c:pt idx="53">
                    <c:v>24 Apr</c:v>
                  </c:pt>
                  <c:pt idx="54">
                    <c:v>25 Apr</c:v>
                  </c:pt>
                  <c:pt idx="55">
                    <c:v>26 Apr</c:v>
                  </c:pt>
                  <c:pt idx="56">
                    <c:v>27 Apr</c:v>
                  </c:pt>
                  <c:pt idx="57">
                    <c:v>28 Apr</c:v>
                  </c:pt>
                  <c:pt idx="58">
                    <c:v>29 Apr</c:v>
                  </c:pt>
                  <c:pt idx="59">
                    <c:v>30 Apr</c:v>
                  </c:pt>
                  <c:pt idx="60">
                    <c:v>1 May</c:v>
                  </c:pt>
                  <c:pt idx="61">
                    <c:v>2 May</c:v>
                  </c:pt>
                  <c:pt idx="62">
                    <c:v>3 May</c:v>
                  </c:pt>
                  <c:pt idx="63">
                    <c:v>4 May</c:v>
                  </c:pt>
                  <c:pt idx="64">
                    <c:v>5 May</c:v>
                  </c:pt>
                  <c:pt idx="65">
                    <c:v>6 May</c:v>
                  </c:pt>
                </c:lvl>
              </c:multiLvlStrCache>
            </c:multiLvlStrRef>
          </c:cat>
          <c:val>
            <c:numRef>
              <c:f>Sheet1!$D$2:$D$67</c:f>
              <c:numCache>
                <c:formatCode>General</c:formatCode>
                <c:ptCount val="66"/>
                <c:pt idx="0">
                  <c:v>6</c:v>
                </c:pt>
                <c:pt idx="1">
                  <c:v>6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  <c:pt idx="6">
                  <c:v>6</c:v>
                </c:pt>
                <c:pt idx="7">
                  <c:v>6</c:v>
                </c:pt>
                <c:pt idx="8">
                  <c:v>6</c:v>
                </c:pt>
                <c:pt idx="9">
                  <c:v>6</c:v>
                </c:pt>
                <c:pt idx="10">
                  <c:v>6</c:v>
                </c:pt>
                <c:pt idx="11">
                  <c:v>6</c:v>
                </c:pt>
                <c:pt idx="12">
                  <c:v>6</c:v>
                </c:pt>
                <c:pt idx="13">
                  <c:v>6</c:v>
                </c:pt>
                <c:pt idx="14">
                  <c:v>6</c:v>
                </c:pt>
                <c:pt idx="15">
                  <c:v>6</c:v>
                </c:pt>
                <c:pt idx="16">
                  <c:v>6</c:v>
                </c:pt>
                <c:pt idx="17">
                  <c:v>6</c:v>
                </c:pt>
                <c:pt idx="18">
                  <c:v>6</c:v>
                </c:pt>
                <c:pt idx="19">
                  <c:v>6</c:v>
                </c:pt>
                <c:pt idx="20">
                  <c:v>6</c:v>
                </c:pt>
                <c:pt idx="21">
                  <c:v>6</c:v>
                </c:pt>
                <c:pt idx="22">
                  <c:v>6</c:v>
                </c:pt>
                <c:pt idx="23">
                  <c:v>6</c:v>
                </c:pt>
                <c:pt idx="24">
                  <c:v>6</c:v>
                </c:pt>
                <c:pt idx="25">
                  <c:v>6</c:v>
                </c:pt>
                <c:pt idx="26">
                  <c:v>6</c:v>
                </c:pt>
                <c:pt idx="27">
                  <c:v>6</c:v>
                </c:pt>
                <c:pt idx="28">
                  <c:v>6</c:v>
                </c:pt>
                <c:pt idx="29">
                  <c:v>6</c:v>
                </c:pt>
                <c:pt idx="30">
                  <c:v>6</c:v>
                </c:pt>
                <c:pt idx="31">
                  <c:v>6</c:v>
                </c:pt>
                <c:pt idx="32">
                  <c:v>6</c:v>
                </c:pt>
                <c:pt idx="33">
                  <c:v>6</c:v>
                </c:pt>
                <c:pt idx="34">
                  <c:v>6</c:v>
                </c:pt>
                <c:pt idx="35">
                  <c:v>6</c:v>
                </c:pt>
                <c:pt idx="36">
                  <c:v>6</c:v>
                </c:pt>
                <c:pt idx="37">
                  <c:v>6</c:v>
                </c:pt>
                <c:pt idx="38">
                  <c:v>6</c:v>
                </c:pt>
                <c:pt idx="39">
                  <c:v>6</c:v>
                </c:pt>
                <c:pt idx="40">
                  <c:v>6</c:v>
                </c:pt>
                <c:pt idx="41">
                  <c:v>6</c:v>
                </c:pt>
                <c:pt idx="42">
                  <c:v>6</c:v>
                </c:pt>
                <c:pt idx="43">
                  <c:v>6</c:v>
                </c:pt>
                <c:pt idx="44">
                  <c:v>6</c:v>
                </c:pt>
                <c:pt idx="45">
                  <c:v>6</c:v>
                </c:pt>
                <c:pt idx="46">
                  <c:v>6</c:v>
                </c:pt>
                <c:pt idx="47">
                  <c:v>6</c:v>
                </c:pt>
                <c:pt idx="48">
                  <c:v>6</c:v>
                </c:pt>
                <c:pt idx="49">
                  <c:v>6</c:v>
                </c:pt>
                <c:pt idx="50">
                  <c:v>6</c:v>
                </c:pt>
                <c:pt idx="51">
                  <c:v>6</c:v>
                </c:pt>
                <c:pt idx="52">
                  <c:v>6</c:v>
                </c:pt>
                <c:pt idx="53">
                  <c:v>6</c:v>
                </c:pt>
                <c:pt idx="54">
                  <c:v>6</c:v>
                </c:pt>
                <c:pt idx="55">
                  <c:v>6</c:v>
                </c:pt>
                <c:pt idx="56">
                  <c:v>6</c:v>
                </c:pt>
                <c:pt idx="57">
                  <c:v>6</c:v>
                </c:pt>
                <c:pt idx="58">
                  <c:v>6</c:v>
                </c:pt>
                <c:pt idx="59">
                  <c:v>6</c:v>
                </c:pt>
                <c:pt idx="60">
                  <c:v>6</c:v>
                </c:pt>
                <c:pt idx="61">
                  <c:v>6</c:v>
                </c:pt>
                <c:pt idx="62">
                  <c:v>6</c:v>
                </c:pt>
                <c:pt idx="63">
                  <c:v>6</c:v>
                </c:pt>
                <c:pt idx="64">
                  <c:v>6</c:v>
                </c:pt>
                <c:pt idx="65">
                  <c:v>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4"/>
      </c:catAx>
      <c:valAx>
        <c:axId val="2094734552"/>
        <c:scaling>
          <c:orientation val="minMax"/>
          <c:max val="8.5"/>
          <c:min val="4.5"/>
        </c:scaling>
        <c:delete val="0"/>
        <c:axPos val="l"/>
        <c:majorGridlines>
          <c:spPr>
            <a:ln w="6350" cap="flat">
              <a:solidFill>
                <a:srgbClr val="E3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4313D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313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313D"/>
                </a:solidFill>
                <a:latin typeface="+mn-lt"/>
              </a:rPr>
              <a:t>Episodes flagged before onset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Episodes flagged</c:v>
                </c:pt>
              </c:strCache>
            </c:strRef>
          </c:tx>
          <c:spPr>
            <a:solidFill>
              <a:srgbClr val="0F6E6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43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6E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9C4C4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Twin</c:v>
                  </c:pt>
                  <c:pt idx="1">
                    <c:v>Population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47.5</c:v>
                </c:pt>
                <c:pt idx="1">
                  <c:v>40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400" u="none">
                  <a:solidFill>
                    <a:srgbClr val="143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313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313D"/>
                </a:solidFill>
                <a:latin typeface="+mn-lt"/>
              </a:rPr>
              <a:t>False-alert days per month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False alerts</c:v>
                </c:pt>
              </c:strCache>
            </c:strRef>
          </c:tx>
          <c:spPr>
            <a:solidFill>
              <a:srgbClr val="0F6E6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43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6E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9C4C4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Twin</c:v>
                  </c:pt>
                  <c:pt idx="1">
                    <c:v>Population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1.17</c:v>
                </c:pt>
                <c:pt idx="1">
                  <c:v>1.55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400" u="none">
                  <a:solidFill>
                    <a:srgbClr val="143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313D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313D"/>
                </a:solidFill>
                <a:latin typeface="+mn-lt"/>
              </a:rPr>
              <a:t>MT0441: risk of an episode starting within 7 days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Twin 7-day risk (%)</c:v>
                </c:pt>
              </c:strCache>
            </c:strRef>
          </c:tx>
          <c:spPr>
            <a:solidFill>
              <a:srgbClr val="14313D"/>
            </a:solidFill>
            <a:ln w="31750" cap="flat">
              <a:solidFill>
                <a:srgbClr val="1431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4313D"/>
              </a:solidFill>
              <a:ln w="9525" cap="flat">
                <a:solidFill>
                  <a:srgbClr val="1431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6 Apr</c:v>
                  </c:pt>
                  <c:pt idx="1">
                    <c:v>7 Apr</c:v>
                  </c:pt>
                  <c:pt idx="2">
                    <c:v>8 Apr</c:v>
                  </c:pt>
                  <c:pt idx="3">
                    <c:v>9 Apr</c:v>
                  </c:pt>
                  <c:pt idx="4">
                    <c:v>10 Apr</c:v>
                  </c:pt>
                  <c:pt idx="5">
                    <c:v>11 Apr</c:v>
                  </c:pt>
                  <c:pt idx="6">
                    <c:v>12 Apr</c:v>
                  </c:pt>
                  <c:pt idx="7">
                    <c:v>13 Apr</c:v>
                  </c:pt>
                  <c:pt idx="8">
                    <c:v>14 Apr</c:v>
                  </c:pt>
                  <c:pt idx="9">
                    <c:v>15 Apr</c:v>
                  </c:pt>
                  <c:pt idx="10">
                    <c:v>16 Apr</c:v>
                  </c:pt>
                  <c:pt idx="11">
                    <c:v>17 Apr</c:v>
                  </c:pt>
                  <c:pt idx="12">
                    <c:v>18 Apr</c:v>
                  </c:pt>
                  <c:pt idx="13">
                    <c:v>19 Apr</c:v>
                  </c:pt>
                  <c:pt idx="14">
                    <c:v>20 Apr</c:v>
                  </c:pt>
                  <c:pt idx="15">
                    <c:v>21 Apr</c:v>
                  </c:pt>
                  <c:pt idx="16">
                    <c:v>22 Apr</c:v>
                  </c:pt>
                  <c:pt idx="17">
                    <c:v>23 Apr</c:v>
                  </c:pt>
                  <c:pt idx="18">
                    <c:v>24 Apr</c:v>
                  </c:pt>
                  <c:pt idx="19">
                    <c:v>25 Apr</c:v>
                  </c:pt>
                  <c:pt idx="20">
                    <c:v>26 Apr</c:v>
                  </c:pt>
                  <c:pt idx="21">
                    <c:v>27 Apr</c:v>
                  </c:pt>
                  <c:pt idx="22">
                    <c:v>28 Apr</c:v>
                  </c:pt>
                  <c:pt idx="23">
                    <c:v>29 Apr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0.67</c:v>
                </c:pt>
                <c:pt idx="1">
                  <c:v>0.62</c:v>
                </c:pt>
                <c:pt idx="2">
                  <c:v>0.37</c:v>
                </c:pt>
                <c:pt idx="3">
                  <c:v>0.74</c:v>
                </c:pt>
                <c:pt idx="4">
                  <c:v>0.42</c:v>
                </c:pt>
                <c:pt idx="5">
                  <c:v>0.52</c:v>
                </c:pt>
                <c:pt idx="6">
                  <c:v>0.07</c:v>
                </c:pt>
                <c:pt idx="7">
                  <c:v>0.42</c:v>
                </c:pt>
                <c:pt idx="8">
                  <c:v>0.46</c:v>
                </c:pt>
                <c:pt idx="9">
                  <c:v>0.45</c:v>
                </c:pt>
                <c:pt idx="10">
                  <c:v>0.1</c:v>
                </c:pt>
                <c:pt idx="11">
                  <c:v>1.55</c:v>
                </c:pt>
                <c:pt idx="12">
                  <c:v>3.53</c:v>
                </c:pt>
                <c:pt idx="13">
                  <c:v>1.83</c:v>
                </c:pt>
                <c:pt idx="14">
                  <c:v>1.96</c:v>
                </c:pt>
                <c:pt idx="15">
                  <c:v>4.04</c:v>
                </c:pt>
                <c:pt idx="16">
                  <c:v>3.71</c:v>
                </c:pt>
                <c:pt idx="17">
                  <c:v>6.43</c:v>
                </c:pt>
                <c:pt idx="18">
                  <c:v>8.6</c:v>
                </c:pt>
                <c:pt idx="19">
                  <c:v>12.88</c:v>
                </c:pt>
                <c:pt idx="20">
                  <c:v>44.32</c:v>
                </c:pt>
                <c:pt idx="21">
                  <c:v>11.49</c:v>
                </c:pt>
                <c:pt idx="22">
                  <c:v>7.51</c:v>
                </c:pt>
                <c:pt idx="23">
                  <c:v>15.83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Early-warning threshold</c:v>
                </c:pt>
              </c:strCache>
            </c:strRef>
          </c:tx>
          <c:spPr>
            <a:solidFill>
              <a:srgbClr val="C8553D"/>
            </a:solidFill>
            <a:ln w="31750" cap="flat">
              <a:solidFill>
                <a:srgbClr val="C855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C8553D"/>
              </a:solidFill>
              <a:ln w="9525" cap="flat">
                <a:solidFill>
                  <a:srgbClr val="C855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6 Apr</c:v>
                  </c:pt>
                  <c:pt idx="1">
                    <c:v>7 Apr</c:v>
                  </c:pt>
                  <c:pt idx="2">
                    <c:v>8 Apr</c:v>
                  </c:pt>
                  <c:pt idx="3">
                    <c:v>9 Apr</c:v>
                  </c:pt>
                  <c:pt idx="4">
                    <c:v>10 Apr</c:v>
                  </c:pt>
                  <c:pt idx="5">
                    <c:v>11 Apr</c:v>
                  </c:pt>
                  <c:pt idx="6">
                    <c:v>12 Apr</c:v>
                  </c:pt>
                  <c:pt idx="7">
                    <c:v>13 Apr</c:v>
                  </c:pt>
                  <c:pt idx="8">
                    <c:v>14 Apr</c:v>
                  </c:pt>
                  <c:pt idx="9">
                    <c:v>15 Apr</c:v>
                  </c:pt>
                  <c:pt idx="10">
                    <c:v>16 Apr</c:v>
                  </c:pt>
                  <c:pt idx="11">
                    <c:v>17 Apr</c:v>
                  </c:pt>
                  <c:pt idx="12">
                    <c:v>18 Apr</c:v>
                  </c:pt>
                  <c:pt idx="13">
                    <c:v>19 Apr</c:v>
                  </c:pt>
                  <c:pt idx="14">
                    <c:v>20 Apr</c:v>
                  </c:pt>
                  <c:pt idx="15">
                    <c:v>21 Apr</c:v>
                  </c:pt>
                  <c:pt idx="16">
                    <c:v>22 Apr</c:v>
                  </c:pt>
                  <c:pt idx="17">
                    <c:v>23 Apr</c:v>
                  </c:pt>
                  <c:pt idx="18">
                    <c:v>24 Apr</c:v>
                  </c:pt>
                  <c:pt idx="19">
                    <c:v>25 Apr</c:v>
                  </c:pt>
                  <c:pt idx="20">
                    <c:v>26 Apr</c:v>
                  </c:pt>
                  <c:pt idx="21">
                    <c:v>27 Apr</c:v>
                  </c:pt>
                  <c:pt idx="22">
                    <c:v>28 Apr</c:v>
                  </c:pt>
                  <c:pt idx="23">
                    <c:v>29 Apr</c:v>
                  </c:pt>
                </c:lvl>
              </c:multiLvlStrCache>
            </c:multiLvl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3.02</c:v>
                </c:pt>
                <c:pt idx="1">
                  <c:v>3.02</c:v>
                </c:pt>
                <c:pt idx="2">
                  <c:v>3.02</c:v>
                </c:pt>
                <c:pt idx="3">
                  <c:v>3.02</c:v>
                </c:pt>
                <c:pt idx="4">
                  <c:v>3.02</c:v>
                </c:pt>
                <c:pt idx="5">
                  <c:v>3.02</c:v>
                </c:pt>
                <c:pt idx="6">
                  <c:v>3.02</c:v>
                </c:pt>
                <c:pt idx="7">
                  <c:v>3.02</c:v>
                </c:pt>
                <c:pt idx="8">
                  <c:v>3.02</c:v>
                </c:pt>
                <c:pt idx="9">
                  <c:v>3.02</c:v>
                </c:pt>
                <c:pt idx="10">
                  <c:v>3.02</c:v>
                </c:pt>
                <c:pt idx="11">
                  <c:v>3.02</c:v>
                </c:pt>
                <c:pt idx="12">
                  <c:v>3.02</c:v>
                </c:pt>
                <c:pt idx="13">
                  <c:v>3.02</c:v>
                </c:pt>
                <c:pt idx="14">
                  <c:v>3.02</c:v>
                </c:pt>
                <c:pt idx="15">
                  <c:v>3.02</c:v>
                </c:pt>
                <c:pt idx="16">
                  <c:v>3.02</c:v>
                </c:pt>
                <c:pt idx="17">
                  <c:v>3.02</c:v>
                </c:pt>
                <c:pt idx="18">
                  <c:v>3.02</c:v>
                </c:pt>
                <c:pt idx="19">
                  <c:v>3.02</c:v>
                </c:pt>
                <c:pt idx="20">
                  <c:v>3.02</c:v>
                </c:pt>
                <c:pt idx="21">
                  <c:v>3.02</c:v>
                </c:pt>
                <c:pt idx="22">
                  <c:v>3.02</c:v>
                </c:pt>
                <c:pt idx="23">
                  <c:v>3.02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4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3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4313D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313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313D"/>
                </a:solidFill>
                <a:latin typeface="+mn-lt"/>
              </a:rPr>
              <a:t>7-day episode risk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Risk</c:v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43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55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6E6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Now</c:v>
                  </c:pt>
                  <c:pt idx="1">
                    <c:v>Scenario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6.43</c:v>
                </c:pt>
                <c:pt idx="1">
                  <c:v>0.71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143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hook: depression rarely arrives overnight. Introduce Manas Twin: manas means mind.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Cite NMHS 2015-16. The point: care starts after people are already unwell, if at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 A still sleeps more than the cut-off but is drifting from their own 7.4 h normal and heads into an episode. Person B always sleeps under 6 h and is fine.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Condition: recurrent depressive episodes. Prediction: will an episode start within 7 days?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what makes it a twin rather than a classifier: a per-person, continuously updated replica.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Solid boxes are built in this PoC, dashed are designed /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that it is synthetic. Ground-truth episodes are used only to create labels and evaluate.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Validation is by person, so the test set only has people the model never saw.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half of episodes flagged early, median 6 days ahead. Honest framing: a prompt for a human check-in.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MT0441, 18, engineering student in Kochi, end-semester exams.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this live in the What-if view. Stress that it is associative, not causal.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Narrow scope is deliberate. Crisis signals go to humans, and Tele-MANAS is shown in-app.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about limitations: synthetic data, moderate sensitivity, associative what-if.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3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</a:rPr>
              <a:t>Manas Twin · Happiest Health Summit 2026 · Digital Twin PoC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5.xml"/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1280160"/>
            <a:ext cx="3566160" cy="3566160"/>
          </a:xfrm>
          <a:prstGeom prst="ellipse">
            <a:avLst/>
          </a:prstGeom>
          <a:solidFill>
            <a:srgbClr val="0F6E6E">
              <a:alpha val="90000"/>
            </a:srgbClr>
          </a:solidFill>
          <a:ln w="12700">
            <a:solidFill>
              <a:srgbClr val="0F6E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32520" y="1874520"/>
            <a:ext cx="2377440" cy="2377440"/>
          </a:xfrm>
          <a:prstGeom prst="ellipse">
            <a:avLst/>
          </a:prstGeom>
          <a:solidFill>
            <a:srgbClr val="7FB7A6">
              <a:alpha val="80000"/>
            </a:srgbClr>
          </a:solidFill>
          <a:ln w="12700">
            <a:solidFill>
              <a:srgbClr val="7FB7A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0" y="25146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5544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Manas Twin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65176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5E1"/>
                </a:solidFill>
              </a:rPr>
              <a:t>A digital twin that warns of a depressive episode about a week before it begins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7490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9C4C4"/>
                </a:solidFill>
              </a:rPr>
              <a:t>For Indian college students and young professionals, and the counsellors who support them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3035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B9C4C4"/>
                </a:solidFill>
              </a:rPr>
              <a:t>Happiest Health · Reimagining and Reforming Healthcare in India Summit 2026, Bengaluru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B9C4C4"/>
                </a:solidFill>
              </a:rPr>
              <a:t>Digital Twin Proof-of-Concept Challenge · Team: [Team name] · [Incubator / University]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India's mental-health care starts too late: the treatment gap exceeds 60% for almost every disorder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600200"/>
            <a:ext cx="5120640" cy="1965960"/>
          </a:xfrm>
          <a:prstGeom prst="roundRect">
            <a:avLst>
              <a:gd name="adj" fmla="val 4651"/>
            </a:avLst>
          </a:prstGeom>
          <a:solidFill>
            <a:srgbClr val="EAF3F2"/>
          </a:solidFill>
          <a:ln w="12700">
            <a:solidFill>
              <a:srgbClr val="EAF3F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7830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0F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~15%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2971800" y="192024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313D"/>
                </a:solidFill>
              </a:rPr>
              <a:t>of Indian adults need treatment for one or more mental health conditions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3794760"/>
            <a:ext cx="5120640" cy="1965960"/>
          </a:xfrm>
          <a:prstGeom prst="roundRect">
            <a:avLst>
              <a:gd name="adj" fmla="val 4651"/>
            </a:avLst>
          </a:prstGeom>
          <a:solidFill>
            <a:srgbClr val="F8E6E2"/>
          </a:solidFill>
          <a:ln w="12700">
            <a:solidFill>
              <a:srgbClr val="F8E6E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3977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&gt;60%</a:t>
            </a:r>
            <a:endParaRPr lang="en-US" sz="5400" dirty="0"/>
          </a:p>
        </p:txBody>
      </p:sp>
      <p:sp>
        <p:nvSpPr>
          <p:cNvPr id="9" name="Text 6"/>
          <p:cNvSpPr txBox="1"/>
          <p:nvPr/>
        </p:nvSpPr>
        <p:spPr>
          <a:xfrm>
            <a:off x="2971800" y="411480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313D"/>
                </a:solidFill>
              </a:rPr>
              <a:t>treatment gap for every mental disorder except epilepsy (range 28–83%)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16002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313D"/>
                </a:solidFill>
              </a:rPr>
              <a:t>Why care starts late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309360" y="2240280"/>
            <a:ext cx="640080" cy="640080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2979" y="2393899"/>
            <a:ext cx="332842" cy="33284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178040" y="219456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313D"/>
                </a:solidFill>
              </a:rPr>
              <a:t>Symptoms build silently for weeks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</a:rPr>
              <a:t>Sleep, energy, activity and social contact change before anyone names it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309360" y="3429000"/>
            <a:ext cx="640080" cy="640080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2979" y="358261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178040" y="338328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313D"/>
                </a:solidFill>
              </a:rPr>
              <a:t>Help-seeking is slow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</a:rPr>
              <a:t>Stigma and few counsellors mean diagnosis often comes well into an episode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309360" y="4617720"/>
            <a:ext cx="640080" cy="640080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2979" y="4771339"/>
            <a:ext cx="332842" cy="33284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178040" y="457200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313D"/>
                </a:solidFill>
              </a:rPr>
              <a:t>Nobody watches daily signals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</a:rPr>
              <a:t>Wearables and phones already record the build-up, but no one reads it for the person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3"/>
                </a:solidFill>
              </a:rPr>
              <a:t>Verified fact: NIMHANS, National Mental Health Survey of India 2015–16 (34,802 adults, 12 states). Right panel: problem framing.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Everyone's 'normal' is different, so one population cut-off flags the wrong person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694944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1"/>
          <p:cNvSpPr/>
          <p:nvPr/>
        </p:nvSpPr>
        <p:spPr>
          <a:xfrm>
            <a:off x="7863840" y="1600200"/>
            <a:ext cx="3749040" cy="1965960"/>
          </a:xfrm>
          <a:prstGeom prst="roundRect">
            <a:avLst>
              <a:gd name="adj" fmla="val 4651"/>
            </a:avLst>
          </a:prstGeom>
          <a:solidFill>
            <a:srgbClr val="F8E6E2"/>
          </a:solidFill>
          <a:ln w="12700">
            <a:solidFill>
              <a:srgbClr val="F8E6E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092440" y="178308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313D"/>
                </a:solidFill>
              </a:rPr>
              <a:t>Person A: above the cut-off, heading into an episode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</a:rPr>
              <a:t>Sleep fell almost an hour below their own normal. Twin: Early warning, 6.43% risk (7× typical).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7863840" y="3749040"/>
            <a:ext cx="3749040" cy="1965960"/>
          </a:xfrm>
          <a:prstGeom prst="roundRect">
            <a:avLst>
              <a:gd name="adj" fmla="val 4651"/>
            </a:avLst>
          </a:prstGeom>
          <a:solidFill>
            <a:srgbClr val="EAF3F2"/>
          </a:solidFill>
          <a:ln w="12700">
            <a:solidFill>
              <a:srgbClr val="EAF3F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092440" y="393192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313D"/>
                </a:solidFill>
              </a:rPr>
              <a:t>Person B: below the cut-off, but stable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</a:rPr>
              <a:t>A natural short sleeper. Twin risk never above 0.5%.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3"/>
                </a:solidFill>
              </a:rPr>
              <a:t>Synthetic held-out test patients MT0441 (A) and MT0178 (B), 2 Mar – 6 May. The 6 h cut-off is illustrative.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students and young professionals, and the counsellors who support them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3520440" cy="2240280"/>
          </a:xfrm>
          <a:prstGeom prst="roundRect">
            <a:avLst>
              <a:gd name="adj" fmla="val 4082"/>
            </a:avLst>
          </a:prstGeom>
          <a:solidFill>
            <a:srgbClr val="EAF3F2"/>
          </a:solidFill>
          <a:ln w="12700">
            <a:solidFill>
              <a:srgbClr val="EAF3F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1936699"/>
            <a:ext cx="332842" cy="33284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22960" y="25603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313D"/>
                </a:solidFill>
              </a:rPr>
              <a:t>Student / employee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</a:rPr>
              <a:t>Daily 'you vs your normal' mirror, gentle nudges, what-if view. Joins with explicit consent.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4297680" y="1554480"/>
            <a:ext cx="3520440" cy="2240280"/>
          </a:xfrm>
          <a:prstGeom prst="roundRect">
            <a:avLst>
              <a:gd name="adj" fmla="val 4082"/>
            </a:avLst>
          </a:prstGeom>
          <a:solidFill>
            <a:srgbClr val="EAF3F2"/>
          </a:solidFill>
          <a:ln w="12700">
            <a:solidFill>
              <a:srgbClr val="EAF3F2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572000" y="1783080"/>
            <a:ext cx="640080" cy="640080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5619" y="1936699"/>
            <a:ext cx="332842" cy="33284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572000" y="25603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313D"/>
                </a:solidFill>
              </a:rPr>
              <a:t>Counsellor / EAP / doctor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</a:rPr>
              <a:t>Risk-ranked caseload with reasons and PHQ-9 trend, so they can reach out before a crisis.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8046720" y="1554480"/>
            <a:ext cx="3520440" cy="2240280"/>
          </a:xfrm>
          <a:prstGeom prst="roundRect">
            <a:avLst>
              <a:gd name="adj" fmla="val 4082"/>
            </a:avLst>
          </a:prstGeom>
          <a:solidFill>
            <a:srgbClr val="EAF3F2"/>
          </a:solidFill>
          <a:ln w="12700">
            <a:solidFill>
              <a:srgbClr val="EAF3F2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8321040" y="1783080"/>
            <a:ext cx="640080" cy="640080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4659" y="1936699"/>
            <a:ext cx="332842" cy="33284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321040" y="25603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313D"/>
                </a:solidFill>
              </a:rPr>
              <a:t>Institution (aggregate)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</a:rPr>
              <a:t>Anonymised view of stress hotspots like exam weeks, to plan counselling capacity.</a:t>
            </a:r>
            <a:endParaRPr lang="en-US" sz="1600" dirty="0"/>
          </a:p>
        </p:txBody>
      </p:sp>
      <p:sp>
        <p:nvSpPr>
          <p:cNvPr id="16" name="Text 10"/>
          <p:cNvSpPr txBox="1"/>
          <p:nvPr/>
        </p:nvSpPr>
        <p:spPr>
          <a:xfrm>
            <a:off x="548640" y="4069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313D"/>
                </a:solidFill>
              </a:rPr>
              <a:t>How an alert becomes care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54864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1097280" y="4800600"/>
            <a:ext cx="1600200" cy="0"/>
          </a:xfrm>
          <a:prstGeom prst="line">
            <a:avLst/>
          </a:prstGeom>
          <a:noFill/>
          <a:ln w="19050">
            <a:solidFill>
              <a:srgbClr val="B9C4C4"/>
            </a:solidFill>
            <a:prstDash val="solid"/>
            <a:tailEnd type="triangle"/>
          </a:ln>
        </p:spPr>
      </p:sp>
      <p:sp>
        <p:nvSpPr>
          <p:cNvPr id="20" name="Text 14"/>
          <p:cNvSpPr txBox="1"/>
          <p:nvPr/>
        </p:nvSpPr>
        <p:spPr>
          <a:xfrm>
            <a:off x="548640" y="51206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313D"/>
                </a:solidFill>
              </a:rPr>
              <a:t>Wearable + phone data arrive daily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2816352" y="4572000"/>
            <a:ext cx="457200" cy="457200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2816352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3364992" y="4800600"/>
            <a:ext cx="1600200" cy="0"/>
          </a:xfrm>
          <a:prstGeom prst="line">
            <a:avLst/>
          </a:prstGeom>
          <a:noFill/>
          <a:ln w="19050">
            <a:solidFill>
              <a:srgbClr val="B9C4C4"/>
            </a:solidFill>
            <a:prstDash val="solid"/>
            <a:tailEnd type="triangle"/>
          </a:ln>
        </p:spPr>
      </p:sp>
      <p:sp>
        <p:nvSpPr>
          <p:cNvPr id="24" name="Text 18"/>
          <p:cNvSpPr txBox="1"/>
          <p:nvPr/>
        </p:nvSpPr>
        <p:spPr>
          <a:xfrm>
            <a:off x="2816352" y="51206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313D"/>
                </a:solidFill>
              </a:rPr>
              <a:t>Twin sees drift from personal normal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5084064" y="4572000"/>
            <a:ext cx="457200" cy="4572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5084064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5632704" y="4800600"/>
            <a:ext cx="1600200" cy="0"/>
          </a:xfrm>
          <a:prstGeom prst="line">
            <a:avLst/>
          </a:prstGeom>
          <a:noFill/>
          <a:ln w="19050">
            <a:solidFill>
              <a:srgbClr val="B9C4C4"/>
            </a:solidFill>
            <a:prstDash val="solid"/>
            <a:tailEnd type="triangle"/>
          </a:ln>
        </p:spPr>
      </p:sp>
      <p:sp>
        <p:nvSpPr>
          <p:cNvPr id="28" name="Text 22"/>
          <p:cNvSpPr txBox="1"/>
          <p:nvPr/>
        </p:nvSpPr>
        <p:spPr>
          <a:xfrm>
            <a:off x="5084064" y="51206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313D"/>
                </a:solidFill>
              </a:rPr>
              <a:t>Early warning with plain-language reasons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7351776" y="4572000"/>
            <a:ext cx="457200" cy="457200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7351776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1" name="Shape 25"/>
          <p:cNvSpPr/>
          <p:nvPr/>
        </p:nvSpPr>
        <p:spPr>
          <a:xfrm>
            <a:off x="7900416" y="4800600"/>
            <a:ext cx="1600200" cy="0"/>
          </a:xfrm>
          <a:prstGeom prst="line">
            <a:avLst/>
          </a:prstGeom>
          <a:noFill/>
          <a:ln w="19050">
            <a:solidFill>
              <a:srgbClr val="B9C4C4"/>
            </a:solidFill>
            <a:prstDash val="solid"/>
            <a:tailEnd type="triangle"/>
          </a:ln>
        </p:spPr>
      </p:sp>
      <p:sp>
        <p:nvSpPr>
          <p:cNvPr id="32" name="Text 26"/>
          <p:cNvSpPr txBox="1"/>
          <p:nvPr/>
        </p:nvSpPr>
        <p:spPr>
          <a:xfrm>
            <a:off x="7351776" y="51206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313D"/>
                </a:solidFill>
              </a:rPr>
              <a:t>Counsellor check-in and repeat PHQ-9</a:t>
            </a:r>
            <a:endParaRPr lang="en-US" sz="1300" dirty="0"/>
          </a:p>
        </p:txBody>
      </p:sp>
      <p:sp>
        <p:nvSpPr>
          <p:cNvPr id="33" name="Shape 27"/>
          <p:cNvSpPr/>
          <p:nvPr/>
        </p:nvSpPr>
        <p:spPr>
          <a:xfrm>
            <a:off x="9619488" y="4572000"/>
            <a:ext cx="457200" cy="457200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9619488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5" name="Text 29"/>
          <p:cNvSpPr txBox="1"/>
          <p:nvPr/>
        </p:nvSpPr>
        <p:spPr>
          <a:xfrm>
            <a:off x="9619488" y="51206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313D"/>
                </a:solidFill>
              </a:rPr>
              <a:t>Care starts in week zero, not week four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twin does four things for each person: mirror, predict, explain, simulate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6002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EAF3F2"/>
          </a:solidFill>
          <a:ln w="12700">
            <a:solidFill>
              <a:srgbClr val="EAF3F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22960" y="1874520"/>
            <a:ext cx="777240" cy="777240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2061058"/>
            <a:ext cx="404165" cy="40416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22960" y="2834640"/>
            <a:ext cx="21031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4313D"/>
                </a:solidFill>
              </a:rPr>
              <a:t>Mirror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B6B73"/>
                </a:solidFill>
              </a:rPr>
              <a:t>Compares your last 3 and 7 days with your own 45-day normal across 8 signals, plus a single Drift Index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3364992" y="16002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8E6E2"/>
          </a:solidFill>
          <a:ln w="12700">
            <a:solidFill>
              <a:srgbClr val="F8E6E2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3639312" y="1874520"/>
            <a:ext cx="777240" cy="77724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5850" y="2061058"/>
            <a:ext cx="404165" cy="40416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639312" y="2834640"/>
            <a:ext cx="21031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4313D"/>
                </a:solidFill>
              </a:rPr>
              <a:t>Predict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B6B73"/>
                </a:solidFill>
              </a:rPr>
              <a:t>Probability that a depressive episode begins within the next 7 days, updated every day</a:t>
            </a:r>
            <a:endParaRPr lang="en-US" sz="2000" dirty="0"/>
          </a:p>
        </p:txBody>
      </p:sp>
      <p:sp>
        <p:nvSpPr>
          <p:cNvPr id="12" name="Shape 7"/>
          <p:cNvSpPr/>
          <p:nvPr/>
        </p:nvSpPr>
        <p:spPr>
          <a:xfrm>
            <a:off x="6181344" y="16002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EAF3F2"/>
          </a:solidFill>
          <a:ln w="12700">
            <a:solidFill>
              <a:srgbClr val="EAF3F2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6455664" y="1874520"/>
            <a:ext cx="777240" cy="777240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2202" y="2061058"/>
            <a:ext cx="404165" cy="40416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455664" y="2834640"/>
            <a:ext cx="21031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4313D"/>
                </a:solidFill>
              </a:rPr>
              <a:t>Explain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B6B73"/>
                </a:solidFill>
              </a:rPr>
              <a:t>Top reasons in plain language: "steps 18% below usual", "54 min less sleep" (SHAP)</a:t>
            </a:r>
            <a:endParaRPr lang="en-US" sz="2000" dirty="0"/>
          </a:p>
        </p:txBody>
      </p:sp>
      <p:sp>
        <p:nvSpPr>
          <p:cNvPr id="16" name="Shape 10"/>
          <p:cNvSpPr/>
          <p:nvPr/>
        </p:nvSpPr>
        <p:spPr>
          <a:xfrm>
            <a:off x="8997696" y="16002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EAF3F2"/>
          </a:solidFill>
          <a:ln w="12700">
            <a:solidFill>
              <a:srgbClr val="EAF3F2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9272016" y="1874520"/>
            <a:ext cx="777240" cy="777240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8554" y="2061058"/>
            <a:ext cx="404165" cy="40416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272016" y="2834640"/>
            <a:ext cx="21031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4313D"/>
                </a:solidFill>
              </a:rPr>
              <a:t>Simulate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B6B73"/>
                </a:solidFill>
              </a:rPr>
              <a:t>What-if: change sleep, bedtime, steps, screen time or social contact and re-run the twin</a:t>
            </a:r>
            <a:endParaRPr lang="en-US" sz="2000" dirty="0"/>
          </a:p>
        </p:txBody>
      </p:sp>
      <p:sp>
        <p:nvSpPr>
          <p:cNvPr id="20" name="Text 13"/>
          <p:cNvSpPr txBox="1"/>
          <p:nvPr/>
        </p:nvSpPr>
        <p:spPr>
          <a:xfrm>
            <a:off x="548640" y="5257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13D"/>
                </a:solidFill>
              </a:rPr>
              <a:t>Signals:</a:t>
            </a:r>
            <a:endParaRPr lang="en-US" sz="1400" dirty="0"/>
          </a:p>
        </p:txBody>
      </p:sp>
      <p:sp>
        <p:nvSpPr>
          <p:cNvPr id="21" name="Shape 14"/>
          <p:cNvSpPr/>
          <p:nvPr/>
        </p:nvSpPr>
        <p:spPr>
          <a:xfrm>
            <a:off x="1463040" y="5257800"/>
            <a:ext cx="411480" cy="411480"/>
          </a:xfrm>
          <a:prstGeom prst="ellipse">
            <a:avLst/>
          </a:prstGeom>
          <a:solidFill>
            <a:srgbClr val="5B6B73"/>
          </a:solidFill>
          <a:ln w="12700">
            <a:solidFill>
              <a:srgbClr val="5B6B73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1795" y="5356555"/>
            <a:ext cx="213970" cy="21397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965960" y="5257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313D"/>
                </a:solidFill>
              </a:rPr>
              <a:t>Sleep duration, onset, efficiency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4754880" y="5257800"/>
            <a:ext cx="411480" cy="411480"/>
          </a:xfrm>
          <a:prstGeom prst="ellipse">
            <a:avLst/>
          </a:prstGeom>
          <a:solidFill>
            <a:srgbClr val="5B6B73"/>
          </a:solidFill>
          <a:ln w="12700">
            <a:solidFill>
              <a:srgbClr val="5B6B73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3635" y="5356555"/>
            <a:ext cx="213970" cy="213970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5257800" y="52578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313D"/>
                </a:solidFill>
              </a:rPr>
              <a:t>Resting HR, HRV</a:t>
            </a:r>
            <a:endParaRPr lang="en-US" sz="1300" dirty="0"/>
          </a:p>
        </p:txBody>
      </p:sp>
      <p:sp>
        <p:nvSpPr>
          <p:cNvPr id="27" name="Shape 18"/>
          <p:cNvSpPr/>
          <p:nvPr/>
        </p:nvSpPr>
        <p:spPr>
          <a:xfrm>
            <a:off x="6995160" y="5257800"/>
            <a:ext cx="411480" cy="411480"/>
          </a:xfrm>
          <a:prstGeom prst="ellipse">
            <a:avLst/>
          </a:prstGeom>
          <a:solidFill>
            <a:srgbClr val="5B6B73"/>
          </a:solidFill>
          <a:ln w="12700">
            <a:solidFill>
              <a:srgbClr val="5B6B73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3915" y="5356555"/>
            <a:ext cx="213970" cy="213970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7498080" y="52578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313D"/>
                </a:solidFill>
              </a:rPr>
              <a:t>Daily steps</a:t>
            </a:r>
            <a:endParaRPr lang="en-US" sz="1300" dirty="0"/>
          </a:p>
        </p:txBody>
      </p:sp>
      <p:sp>
        <p:nvSpPr>
          <p:cNvPr id="30" name="Shape 20"/>
          <p:cNvSpPr/>
          <p:nvPr/>
        </p:nvSpPr>
        <p:spPr>
          <a:xfrm>
            <a:off x="9006840" y="5257800"/>
            <a:ext cx="411480" cy="411480"/>
          </a:xfrm>
          <a:prstGeom prst="ellipse">
            <a:avLst/>
          </a:prstGeom>
          <a:solidFill>
            <a:srgbClr val="5B6B73"/>
          </a:solidFill>
          <a:ln w="12700">
            <a:solidFill>
              <a:srgbClr val="5B6B73"/>
            </a:solidFill>
            <a:prstDash val="solid"/>
          </a:ln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05595" y="5356555"/>
            <a:ext cx="213970" cy="213970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9509760" y="5257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313D"/>
                </a:solidFill>
              </a:rPr>
              <a:t>Late-night screen time, social contacts</a:t>
            </a:r>
            <a:endParaRPr lang="en-US" sz="1300" dirty="0"/>
          </a:p>
        </p:txBody>
      </p:sp>
      <p:sp>
        <p:nvSpPr>
          <p:cNvPr id="33" name="Text 22"/>
          <p:cNvSpPr txBox="1"/>
          <p:nvPr/>
        </p:nvSpPr>
        <p:spPr>
          <a:xfrm>
            <a:off x="548640" y="57150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</a:rPr>
              <a:t>+ health record: PHQ-9, prior episodes, family history, medication, comorbidities · exam / work-crunch calendar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consent-first pipeline turns everyday data into an explainable 7-day risk</a:t>
            </a:r>
            <a:endParaRPr lang="en-US" sz="2800" dirty="0"/>
          </a:p>
        </p:txBody>
      </p:sp>
      <p:pic>
        <p:nvPicPr>
          <p:cNvPr id="4" name="Image 0" descr="arch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4520" y="1325880"/>
            <a:ext cx="8449056" cy="475488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874520" y="1325880"/>
            <a:ext cx="8449056" cy="4754880"/>
          </a:xfrm>
          <a:prstGeom prst="rect">
            <a:avLst/>
          </a:prstGeom>
          <a:ln w="9525">
            <a:solidFill>
              <a:srgbClr val="B9C4C4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3"/>
                </a:solidFill>
              </a:rPr>
              <a:t>Full-size diagram: docs/Manas_Twin_Architecture.pdf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public dataset pairs wearables with records, so we simulated 600 people, then checked the features on real actigraphy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60020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EAF3F2"/>
          </a:solidFill>
          <a:ln w="12700">
            <a:solidFill>
              <a:srgbClr val="EAF3F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8288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651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313D"/>
                </a:solidFill>
              </a:rPr>
              <a:t>synthetic people, 12 Indian cities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337560" y="160020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EAF3F2"/>
          </a:solidFill>
          <a:ln w="12700">
            <a:solidFill>
              <a:srgbClr val="EAF3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566160" y="18288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144,000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3566160" y="2651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313D"/>
                </a:solidFill>
              </a:rPr>
              <a:t>person-days (240 days each)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370332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EAF3F2"/>
          </a:solidFill>
          <a:ln w="12700">
            <a:solidFill>
              <a:srgbClr val="EAF3F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39319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175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754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313D"/>
                </a:solidFill>
              </a:rPr>
              <a:t>depressive episodes in 148 people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337560" y="370332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EAF3F2"/>
          </a:solidFill>
          <a:ln w="12700">
            <a:solidFill>
              <a:srgbClr val="EAF3F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566160" y="39319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+ EHR</a:t>
            </a:r>
            <a:endParaRPr lang="en-US" sz="3600" dirty="0"/>
          </a:p>
        </p:txBody>
      </p:sp>
      <p:sp>
        <p:nvSpPr>
          <p:cNvPr id="15" name="Text 12"/>
          <p:cNvSpPr txBox="1"/>
          <p:nvPr/>
        </p:nvSpPr>
        <p:spPr>
          <a:xfrm>
            <a:off x="3566160" y="4754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313D"/>
                </a:solidFill>
              </a:rPr>
              <a:t>daily signals plus health record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0" y="1600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313D"/>
                </a:solidFill>
              </a:rPr>
              <a:t>How the simulator works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6400800" y="2103120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EAF3F2"/>
          </a:solidFill>
          <a:ln w="12700">
            <a:solidFill>
              <a:srgbClr val="EAF3F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629400" y="2212848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313D"/>
                </a:solidFill>
              </a:rPr>
              <a:t>Drivers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</a:rPr>
              <a:t>Vulnerability, prior episodes, family history, exam / work-crunch calendar, random life events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06840" y="3172968"/>
            <a:ext cx="0" cy="210312"/>
          </a:xfrm>
          <a:prstGeom prst="line">
            <a:avLst/>
          </a:prstGeom>
          <a:noFill/>
          <a:ln w="19050">
            <a:solidFill>
              <a:srgbClr val="5B6B73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6400800" y="3401568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F8E6E2"/>
          </a:solidFill>
          <a:ln w="12700">
            <a:solidFill>
              <a:srgbClr val="F8E6E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629400" y="3511296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313D"/>
                </a:solidFill>
              </a:rPr>
              <a:t>Hidden depressive load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</a:rPr>
              <a:t>Builds up gradually; an episode starts when it crosses a threshold and lasts 14+ days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9006840" y="4471416"/>
            <a:ext cx="0" cy="210312"/>
          </a:xfrm>
          <a:prstGeom prst="line">
            <a:avLst/>
          </a:prstGeom>
          <a:noFill/>
          <a:ln w="19050">
            <a:solidFill>
              <a:srgbClr val="5B6B73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6400800" y="4700016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EAF3F2"/>
          </a:solidFill>
          <a:ln w="12700">
            <a:solidFill>
              <a:srgbClr val="EAF3F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629400" y="4809744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313D"/>
                </a:solidFill>
              </a:rPr>
              <a:t>What the twin sees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</a:rPr>
              <a:t>Signals drifting from each person's own baseline, plus PHQ-9, diagnoses and medication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3"/>
                </a:solidFill>
              </a:rPr>
              <a:t>Synthetic data generated by src/simulator.py. Signal directions follow digital-phenotyping literature; magnitudes are modelling assumptions.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Personal-baseline features + XGBoost + SHAP: accurate enough to screen, transparent enough to trust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600200"/>
            <a:ext cx="3429000" cy="2651760"/>
          </a:xfrm>
          <a:prstGeom prst="roundRect">
            <a:avLst>
              <a:gd name="adj" fmla="val 3448"/>
            </a:avLst>
          </a:prstGeom>
          <a:solidFill>
            <a:srgbClr val="EAF3F2"/>
          </a:solidFill>
          <a:ln w="12700">
            <a:solidFill>
              <a:srgbClr val="EAF3F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1982419"/>
            <a:ext cx="332842" cy="33284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22960" y="2606040"/>
            <a:ext cx="2926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313D"/>
                </a:solidFill>
              </a:rPr>
              <a:t>50 twin features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</a:rPr>
              <a:t>Per signal: 7-day mean, deviation from personal normal (3- and 7-day), week-on-week change · Drift Index · non-wear days · EHR context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4023360" y="2926080"/>
            <a:ext cx="274320" cy="0"/>
          </a:xfrm>
          <a:prstGeom prst="line">
            <a:avLst/>
          </a:prstGeom>
          <a:noFill/>
          <a:ln w="25400">
            <a:solidFill>
              <a:srgbClr val="14313D"/>
            </a:solidFill>
            <a:prstDash val="solid"/>
            <a:tailEnd type="triangle"/>
          </a:ln>
        </p:spPr>
      </p:sp>
      <p:sp>
        <p:nvSpPr>
          <p:cNvPr id="9" name="Shape 5"/>
          <p:cNvSpPr/>
          <p:nvPr/>
        </p:nvSpPr>
        <p:spPr>
          <a:xfrm>
            <a:off x="4343400" y="1600200"/>
            <a:ext cx="3429000" cy="2651760"/>
          </a:xfrm>
          <a:prstGeom prst="roundRect">
            <a:avLst>
              <a:gd name="adj" fmla="val 3448"/>
            </a:avLst>
          </a:prstGeom>
          <a:solidFill>
            <a:srgbClr val="EAF3F2"/>
          </a:solidFill>
          <a:ln w="12700">
            <a:solidFill>
              <a:srgbClr val="EAF3F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617720" y="1828800"/>
            <a:ext cx="640080" cy="640080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339" y="1982419"/>
            <a:ext cx="332842" cy="33284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617720" y="2606040"/>
            <a:ext cx="2926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313D"/>
                </a:solidFill>
              </a:rPr>
              <a:t>XGBoost risk engine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</a:rPr>
              <a:t>350 trees, depth 4 · handles missing days natively · P(episode starts within 7 days)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7818120" y="2926080"/>
            <a:ext cx="274320" cy="0"/>
          </a:xfrm>
          <a:prstGeom prst="line">
            <a:avLst/>
          </a:prstGeom>
          <a:noFill/>
          <a:ln w="25400">
            <a:solidFill>
              <a:srgbClr val="14313D"/>
            </a:solidFill>
            <a:prstDash val="solid"/>
            <a:tailEnd type="triangle"/>
          </a:ln>
        </p:spPr>
      </p:sp>
      <p:sp>
        <p:nvSpPr>
          <p:cNvPr id="14" name="Shape 9"/>
          <p:cNvSpPr/>
          <p:nvPr/>
        </p:nvSpPr>
        <p:spPr>
          <a:xfrm>
            <a:off x="8138160" y="1600200"/>
            <a:ext cx="3429000" cy="2651760"/>
          </a:xfrm>
          <a:prstGeom prst="roundRect">
            <a:avLst>
              <a:gd name="adj" fmla="val 3448"/>
            </a:avLst>
          </a:prstGeom>
          <a:solidFill>
            <a:srgbClr val="EAF3F2"/>
          </a:solidFill>
          <a:ln w="12700">
            <a:solidFill>
              <a:srgbClr val="EAF3F2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8412480" y="1828800"/>
            <a:ext cx="640080" cy="640080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6099" y="1982419"/>
            <a:ext cx="332842" cy="33284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412480" y="2606040"/>
            <a:ext cx="2926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313D"/>
                </a:solidFill>
              </a:rPr>
              <a:t>SHAP + alert bands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</a:rPr>
              <a:t>Reasons for every score · Early warning at ≥3% risk (≈3× base rate), Watch at half that</a:t>
            </a:r>
            <a:endParaRPr lang="en-US" sz="1600" dirty="0"/>
          </a:p>
        </p:txBody>
      </p:sp>
      <p:sp>
        <p:nvSpPr>
          <p:cNvPr id="18" name="Shape 12"/>
          <p:cNvSpPr/>
          <p:nvPr/>
        </p:nvSpPr>
        <p:spPr>
          <a:xfrm>
            <a:off x="548640" y="4526280"/>
            <a:ext cx="110185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F6E6E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822960" y="4892040"/>
            <a:ext cx="640080" cy="640080"/>
          </a:xfrm>
          <a:prstGeom prst="ellipse">
            <a:avLst/>
          </a:prstGeom>
          <a:solidFill>
            <a:srgbClr val="5B6B73"/>
          </a:solidFill>
          <a:ln w="12700">
            <a:solidFill>
              <a:srgbClr val="5B6B73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579" y="5045659"/>
            <a:ext cx="332842" cy="33284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691640" y="4663440"/>
            <a:ext cx="9692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313D"/>
                </a:solidFill>
              </a:rPr>
              <a:t>Fair test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</a:rPr>
              <a:t>Split by person: 420 train / 180 unseen test. Threshold fixed on validation people at 95% specificity. Benchmarked against an identical model without personal-baseline features (the 'population model').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Personalisation catches more episodes in advance with about 25% fewer false alerts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35661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297680" y="1554480"/>
          <a:ext cx="35661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1"/>
          <p:cNvSpPr/>
          <p:nvPr/>
        </p:nvSpPr>
        <p:spPr>
          <a:xfrm>
            <a:off x="8229600" y="160020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EAF3F2"/>
          </a:solidFill>
          <a:ln w="12700">
            <a:solidFill>
              <a:srgbClr val="EAF3F2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8458200" y="16916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0.85</a:t>
            </a:r>
            <a:endParaRPr lang="en-US" sz="3000" dirty="0"/>
          </a:p>
        </p:txBody>
      </p:sp>
      <p:sp>
        <p:nvSpPr>
          <p:cNvPr id="8" name="Text 3"/>
          <p:cNvSpPr txBox="1"/>
          <p:nvPr/>
        </p:nvSpPr>
        <p:spPr>
          <a:xfrm>
            <a:off x="8458200" y="228600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313D"/>
                </a:solidFill>
              </a:rPr>
              <a:t>AUROC on unseen synthetic people (population model 0.81)</a:t>
            </a:r>
            <a:endParaRPr lang="en-US" sz="1200" dirty="0"/>
          </a:p>
        </p:txBody>
      </p:sp>
      <p:sp>
        <p:nvSpPr>
          <p:cNvPr id="9" name="Shape 4"/>
          <p:cNvSpPr/>
          <p:nvPr/>
        </p:nvSpPr>
        <p:spPr>
          <a:xfrm>
            <a:off x="8229600" y="306324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EAF3F2"/>
          </a:solidFill>
          <a:ln w="12700">
            <a:solidFill>
              <a:srgbClr val="EAF3F2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8458200" y="31546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days</a:t>
            </a:r>
            <a:endParaRPr lang="en-US" sz="3000" dirty="0"/>
          </a:p>
        </p:txBody>
      </p:sp>
      <p:sp>
        <p:nvSpPr>
          <p:cNvPr id="11" name="Text 6"/>
          <p:cNvSpPr txBox="1"/>
          <p:nvPr/>
        </p:nvSpPr>
        <p:spPr>
          <a:xfrm>
            <a:off x="8458200" y="37490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313D"/>
                </a:solidFill>
              </a:rPr>
              <a:t>median warning before the episode begins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8229600" y="452628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BF0DE"/>
          </a:solidFill>
          <a:ln w="12700">
            <a:solidFill>
              <a:srgbClr val="FBF0DE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8458200" y="46177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3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0.82</a:t>
            </a:r>
            <a:endParaRPr lang="en-US" sz="3000" dirty="0"/>
          </a:p>
        </p:txBody>
      </p:sp>
      <p:sp>
        <p:nvSpPr>
          <p:cNvPr id="14" name="Text 9"/>
          <p:cNvSpPr txBox="1"/>
          <p:nvPr/>
        </p:nvSpPr>
        <p:spPr>
          <a:xfrm>
            <a:off x="8458200" y="52120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313D"/>
                </a:solidFill>
              </a:rPr>
              <a:t>AUROC on REAL wrist-actigraphy, depressed vs control (55 people, 95% CI 0.71–0.92)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3"/>
                </a:solidFill>
              </a:rPr>
              <a:t>Charts: synthetic held-out test set (180 people, 40 evaluable episodes). Real-data check: public DEPRESJON dataset (Garcia-Ceja et al., 2018), leave-one-person-out; it tests the features, not the 7-day early warning.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one student, the twin raised the alarm 7 days before onset; usual care diagnosed 19 days after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704088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1"/>
          <p:cNvSpPr/>
          <p:nvPr/>
        </p:nvSpPr>
        <p:spPr>
          <a:xfrm>
            <a:off x="7955280" y="1719072"/>
            <a:ext cx="274320" cy="27432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8092440" y="2029968"/>
            <a:ext cx="0" cy="1051560"/>
          </a:xfrm>
          <a:prstGeom prst="line">
            <a:avLst/>
          </a:prstGeom>
          <a:noFill/>
          <a:ln w="19050">
            <a:solidFill>
              <a:srgbClr val="B9C4C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412480" y="16459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8553D"/>
                </a:solidFill>
              </a:rPr>
              <a:t>21 Apr  </a:t>
            </a:r>
            <a:pPr indent="0" marL="0">
              <a:buNone/>
            </a:pPr>
            <a:r>
              <a:rPr lang="en-US" sz="1500" b="1" dirty="0">
                <a:solidFill>
                  <a:srgbClr val="14313D"/>
                </a:solidFill>
              </a:rPr>
              <a:t>Twin: Early warning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</a:rPr>
              <a:t>Sleep and steps falling below his own normal during exams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7955280" y="3136392"/>
            <a:ext cx="274320" cy="274320"/>
          </a:xfrm>
          <a:prstGeom prst="ellipse">
            <a:avLst/>
          </a:prstGeom>
          <a:solidFill>
            <a:srgbClr val="14313D"/>
          </a:solidFill>
          <a:ln w="12700">
            <a:solidFill>
              <a:srgbClr val="14313D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092440" y="3447288"/>
            <a:ext cx="0" cy="1051560"/>
          </a:xfrm>
          <a:prstGeom prst="line">
            <a:avLst/>
          </a:prstGeom>
          <a:noFill/>
          <a:ln w="19050">
            <a:solidFill>
              <a:srgbClr val="B9C4C4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412480" y="306324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313D"/>
                </a:solidFill>
              </a:rPr>
              <a:t>28 Apr  </a:t>
            </a:r>
            <a:pPr indent="0" marL="0">
              <a:buNone/>
            </a:pPr>
            <a:r>
              <a:rPr lang="en-US" sz="1500" b="1" dirty="0">
                <a:solidFill>
                  <a:srgbClr val="14313D"/>
                </a:solidFill>
              </a:rPr>
              <a:t>Episode begins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</a:rPr>
              <a:t>Ground truth from the simulator, hidden from the twin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7955280" y="4553712"/>
            <a:ext cx="274320" cy="274320"/>
          </a:xfrm>
          <a:prstGeom prst="ellipse">
            <a:avLst/>
          </a:prstGeom>
          <a:solidFill>
            <a:srgbClr val="5B6B73"/>
          </a:solidFill>
          <a:ln w="12700">
            <a:solidFill>
              <a:srgbClr val="5B6B7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412480" y="448056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B6B73"/>
                </a:solidFill>
              </a:rPr>
              <a:t>17 May  </a:t>
            </a:r>
            <a:pPr indent="0" marL="0">
              <a:buNone/>
            </a:pPr>
            <a:r>
              <a:rPr lang="en-US" sz="1500" b="1" dirty="0">
                <a:solidFill>
                  <a:srgbClr val="14313D"/>
                </a:solidFill>
              </a:rPr>
              <a:t>Usual care: diagnosis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</a:rPr>
              <a:t>PHQ-9 of 16 at clinic, escitalopram started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7955280" y="5532120"/>
            <a:ext cx="3657600" cy="457200"/>
          </a:xfrm>
          <a:prstGeom prst="roundRect">
            <a:avLst>
              <a:gd name="adj" fmla="val 20000"/>
            </a:avLst>
          </a:prstGeom>
          <a:solidFill>
            <a:srgbClr val="FBF0DE"/>
          </a:solidFill>
          <a:ln w="12700">
            <a:solidFill>
              <a:srgbClr val="FBF0DE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092440" y="5532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13D"/>
                </a:solidFill>
              </a:rPr>
              <a:t>26 days of possible earlier support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3"/>
                </a:solidFill>
              </a:rPr>
              <a:t>Synthetic test-set patient. Risk values calculated by the trained twin model.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healthier week moves the same student from early warning back to stable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313D"/>
                </a:solidFill>
              </a:rPr>
              <a:t>Scenario applied to his last 7 days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48640" y="2103120"/>
            <a:ext cx="530352" cy="530352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5924" y="2230404"/>
            <a:ext cx="275783" cy="27578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80160" y="210312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313D"/>
                </a:solidFill>
              </a:rPr>
              <a:t>+1 hour of sleep per night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548640" y="2852928"/>
            <a:ext cx="530352" cy="530352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24" y="2980212"/>
            <a:ext cx="275783" cy="275783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280160" y="2852928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313D"/>
                </a:solidFill>
              </a:rPr>
              <a:t>Bedtime 45 minutes earlier</a:t>
            </a: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>
            <a:off x="548640" y="3602736"/>
            <a:ext cx="530352" cy="530352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24" y="3730020"/>
            <a:ext cx="275783" cy="275783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80160" y="3602736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313D"/>
                </a:solidFill>
              </a:rPr>
              <a:t>+3,000 steps a day</a:t>
            </a:r>
            <a:endParaRPr lang="en-US" sz="1600" dirty="0"/>
          </a:p>
        </p:txBody>
      </p:sp>
      <p:sp>
        <p:nvSpPr>
          <p:cNvPr id="14" name="Shape 8"/>
          <p:cNvSpPr/>
          <p:nvPr/>
        </p:nvSpPr>
        <p:spPr>
          <a:xfrm>
            <a:off x="548640" y="4352544"/>
            <a:ext cx="530352" cy="530352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924" y="4479828"/>
            <a:ext cx="275783" cy="275783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280160" y="4352544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313D"/>
                </a:solidFill>
              </a:rPr>
              <a:t>45 fewer minutes on the phone after 11 pm</a:t>
            </a:r>
            <a:endParaRPr lang="en-US" sz="1600" dirty="0"/>
          </a:p>
        </p:txBody>
      </p:sp>
      <p:sp>
        <p:nvSpPr>
          <p:cNvPr id="17" name="Shape 10"/>
          <p:cNvSpPr/>
          <p:nvPr/>
        </p:nvSpPr>
        <p:spPr>
          <a:xfrm>
            <a:off x="548640" y="5102352"/>
            <a:ext cx="530352" cy="530352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924" y="5229636"/>
            <a:ext cx="275783" cy="275783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280160" y="5102352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313D"/>
                </a:solidFill>
              </a:rPr>
              <a:t>+5 social contacts a day</a:t>
            </a:r>
            <a:endParaRPr lang="en-US" sz="16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6309360" y="1554480"/>
          <a:ext cx="530352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1" name="Text 12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3"/>
                </a:solidFill>
              </a:rPr>
              <a:t>Model-based sensitivity analysis on the synthetic test patient: shows how the estimate responds, not a guaranteed causal effect.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by design: consent-first, human-in-the-loop, and no suicide-risk prediction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6002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EAF3F2"/>
          </a:solidFill>
          <a:ln w="12700">
            <a:solidFill>
              <a:srgbClr val="EAF3F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1960474"/>
            <a:ext cx="285293" cy="28529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828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13D"/>
                </a:solidFill>
              </a:rPr>
              <a:t>Consent-first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51460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</a:rPr>
              <a:t>Explicit, revocable consent aligned with DPDP Act 2023 and ABDM consent flows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297680" y="16002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EAF3F2"/>
          </a:solidFill>
          <a:ln w="12700">
            <a:solidFill>
              <a:srgbClr val="EAF3F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26280" y="1828800"/>
            <a:ext cx="548640" cy="548640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954" y="1960474"/>
            <a:ext cx="285293" cy="28529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12080" y="1828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13D"/>
                </a:solidFill>
              </a:rPr>
              <a:t>Human in the loop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4526280" y="251460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</a:rPr>
              <a:t>The twin alerts; a counsellor or clinician decides. It never diagnoses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8046720" y="16002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EAF3F2"/>
          </a:solidFill>
          <a:ln w="12700">
            <a:solidFill>
              <a:srgbClr val="EAF3F2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8275320" y="1828800"/>
            <a:ext cx="548640" cy="548640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6994" y="1960474"/>
            <a:ext cx="285293" cy="28529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961120" y="1828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13D"/>
                </a:solidFill>
              </a:rPr>
              <a:t>Explainable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8275320" y="251460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</a:rPr>
              <a:t>Every alert ships with its reasons, measured against the person's own normal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548640" y="379476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8E6E2"/>
          </a:solidFill>
          <a:ln w="12700">
            <a:solidFill>
              <a:srgbClr val="F8E6E2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77240" y="4023360"/>
            <a:ext cx="548640" cy="54864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914" y="4155034"/>
            <a:ext cx="285293" cy="285293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463040" y="4023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13D"/>
                </a:solidFill>
              </a:rPr>
              <a:t>Narrow scope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777240" y="47091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</a:rPr>
              <a:t>Predicts episode onset only. No suicide or self-harm prediction; crisis line Tele-MANAS 14416 in-app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4297680" y="379476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EAF3F2"/>
          </a:solidFill>
          <a:ln w="12700">
            <a:solidFill>
              <a:srgbClr val="EAF3F2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4526280" y="4023360"/>
            <a:ext cx="548640" cy="548640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7954" y="4155034"/>
            <a:ext cx="285293" cy="285293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212080" y="4023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13D"/>
                </a:solidFill>
              </a:rPr>
              <a:t>Privacy</a:t>
            </a:r>
            <a:endParaRPr lang="en-US" sz="1600" dirty="0"/>
          </a:p>
        </p:txBody>
      </p:sp>
      <p:sp>
        <p:nvSpPr>
          <p:cNvPr id="28" name="Text 20"/>
          <p:cNvSpPr txBox="1"/>
          <p:nvPr/>
        </p:nvSpPr>
        <p:spPr>
          <a:xfrm>
            <a:off x="4526280" y="47091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</a:rPr>
              <a:t>Pseudonymous IDs, counts not content from phones, aggregate-only views for institutions</a:t>
            </a:r>
            <a:endParaRPr lang="en-US" sz="1300" dirty="0"/>
          </a:p>
        </p:txBody>
      </p:sp>
      <p:sp>
        <p:nvSpPr>
          <p:cNvPr id="29" name="Shape 21"/>
          <p:cNvSpPr/>
          <p:nvPr/>
        </p:nvSpPr>
        <p:spPr>
          <a:xfrm>
            <a:off x="8046720" y="379476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EAF3F2"/>
          </a:solidFill>
          <a:ln w="12700">
            <a:solidFill>
              <a:srgbClr val="EAF3F2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8275320" y="4023360"/>
            <a:ext cx="548640" cy="548640"/>
          </a:xfrm>
          <a:prstGeom prst="ellipse">
            <a:avLst/>
          </a:prstGeom>
          <a:solidFill>
            <a:srgbClr val="0F6E6E"/>
          </a:solidFill>
          <a:ln w="12700">
            <a:solidFill>
              <a:srgbClr val="0F6E6E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6994" y="4155034"/>
            <a:ext cx="285293" cy="285293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8961120" y="4023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13D"/>
                </a:solidFill>
              </a:rPr>
              <a:t>Equity</a:t>
            </a:r>
            <a:endParaRPr lang="en-US" sz="1600" dirty="0"/>
          </a:p>
        </p:txBody>
      </p:sp>
      <p:sp>
        <p:nvSpPr>
          <p:cNvPr id="33" name="Text 24"/>
          <p:cNvSpPr txBox="1"/>
          <p:nvPr/>
        </p:nvSpPr>
        <p:spPr>
          <a:xfrm>
            <a:off x="8275320" y="47091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</a:rPr>
              <a:t>Wearables skew urban and affluent: phone-only mode and bias audits on the roadmap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clinician evaluation with 30 psychologists, then a campus pilot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822960" y="1965960"/>
            <a:ext cx="10515600" cy="0"/>
          </a:xfrm>
          <a:prstGeom prst="line">
            <a:avLst/>
          </a:prstGeom>
          <a:noFill/>
          <a:ln w="25400">
            <a:solidFill>
              <a:srgbClr val="B9C4C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783080"/>
            <a:ext cx="365760" cy="365760"/>
          </a:xfrm>
          <a:prstGeom prst="ellipse">
            <a:avLst/>
          </a:prstGeom>
          <a:solidFill>
            <a:srgbClr val="0F6E6E"/>
          </a:solidFill>
          <a:ln w="25400">
            <a:solidFill>
              <a:srgbClr val="0F6E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233172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F6E6E"/>
                </a:solidFill>
              </a:rPr>
              <a:t>Now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4313D"/>
                </a:solidFill>
              </a:rPr>
              <a:t>PoC + real-data check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5B6B73"/>
                </a:solidFill>
              </a:rPr>
              <a:t>Simulator, twin engine, dashboard, FHIR export; features validated on DEPRESJON (AUROC 0.82)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456432" y="178308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6E6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56432" y="233172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F6E6E"/>
                </a:solidFill>
              </a:rPr>
              <a:t>Next 3 months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4313D"/>
                </a:solidFill>
              </a:rPr>
              <a:t>Clinician evaluation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5B6B73"/>
                </a:solidFill>
              </a:rPr>
              <a:t>Structured feedback from 30 psychologists (protocol built into the app); redesign from findings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72784" y="178308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6E6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72784" y="233172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F6E6E"/>
                </a:solidFill>
              </a:rPr>
              <a:t>3–9 months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4313D"/>
                </a:solidFill>
              </a:rPr>
              <a:t>Campus pilot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5B6B73"/>
                </a:solidFill>
              </a:rPr>
              <a:t>Consented pilot with a university wellness centre; co-design alerts with counsellors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089136" y="178308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6E6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089136" y="233172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F6E6E"/>
                </a:solidFill>
              </a:rPr>
              <a:t>9–18 months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4313D"/>
                </a:solidFill>
              </a:rPr>
              <a:t>Scale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5B6B73"/>
                </a:solidFill>
              </a:rPr>
              <a:t>Health Connect / HealthKit ingestion, ABDM-linked records, multilingual nudges, phone-only mode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4160520"/>
            <a:ext cx="11018520" cy="1143000"/>
          </a:xfrm>
          <a:prstGeom prst="roundRect">
            <a:avLst>
              <a:gd name="adj" fmla="val 8000"/>
            </a:avLst>
          </a:prstGeom>
          <a:solidFill>
            <a:srgbClr val="FBF0DE"/>
          </a:solidFill>
          <a:ln w="12700">
            <a:solidFill>
              <a:srgbClr val="FBF0D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4297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313D"/>
                </a:solidFill>
              </a:rPr>
              <a:t>Honest limitations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</a:rPr>
              <a:t>Early-warning accuracy is from synthetic data (features checked on real actigraphy) · about half of episodes flagged early, so it supports rather than replaces human judgement · what-if is associative, not causal · one global model with personalised features, not yet per-person models.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Proactive, not reactive.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14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5E1"/>
                </a:solidFill>
              </a:rPr>
              <a:t>Better mental-health care starts with knowing what normal looks like for each of us, and noticing early when it changes.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8404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B9C4C4"/>
                </a:solidFill>
              </a:rPr>
              <a:t>Code, data, model and docs: github.com/&lt;your-username&gt;/manas-twin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B9C4C4"/>
                </a:solidFill>
              </a:rPr>
              <a:t>Run it: pip install -r requirements.txt  →  streamlit run app/streamlit_app.py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B9C4C4"/>
                </a:solidFill>
              </a:rPr>
              <a:t>Demo video: link in README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760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7FB7A6"/>
                </a:solidFill>
              </a:rPr>
              <a:t>Research prototype on synthetic data, not a diagnostic tool. If you are struggling, call Tele-MANAS 14416 (toll-free, 24×7).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nas Twin">
  <a:themeElements>
    <a:clrScheme name="Manas Twin">
      <a:dk1>
        <a:srgbClr val="14313D"/>
      </a:dk1>
      <a:lt1>
        <a:srgbClr val="FFFFFF"/>
      </a:lt1>
      <a:dk2>
        <a:srgbClr val="0F6E6E"/>
      </a:dk2>
      <a:lt2>
        <a:srgbClr val="EAF3F2"/>
      </a:lt2>
      <a:accent1>
        <a:srgbClr val="0F6E6E"/>
      </a:accent1>
      <a:accent2>
        <a:srgbClr val="E8A33D"/>
      </a:accent2>
      <a:accent3>
        <a:srgbClr val="C8553D"/>
      </a:accent3>
      <a:accent4>
        <a:srgbClr val="7FB7A6"/>
      </a:accent4>
      <a:accent5>
        <a:srgbClr val="5B6B73"/>
      </a:accent5>
      <a:accent6>
        <a:srgbClr val="B9C4C4"/>
      </a:accent6>
      <a:hlink>
        <a:srgbClr val="0F6E6E"/>
      </a:hlink>
      <a:folHlink>
        <a:srgbClr val="5B6B73"/>
      </a:folHlink>
    </a:clrScheme>
    <a:fontScheme name="Manas Twi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Manas Twin - Digital Twin for Early Warning of Depressive Episodes</dc:title>
  <dc:subject>PptxGenJS Presentation</dc:subject>
  <dc:creator>Manas Twin Team</dc:creator>
  <cp:lastModifiedBy>Manas Twin Team</cp:lastModifiedBy>
  <cp:revision>1</cp:revision>
  <dcterms:created xsi:type="dcterms:W3CDTF">2026-10-12T11:00:57Z</dcterms:created>
  <dcterms:modified xsi:type="dcterms:W3CDTF">2026-10-12T11:00:57Z</dcterms:modified>
</cp:coreProperties>
</file>