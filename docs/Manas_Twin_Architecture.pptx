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chitecture" id="{e4aba57a-b5ba-de9d-4554-c0d5552e588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Manas Twin: reference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86384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Everyday wearable + phone data and the health record flow through a consent layer into a per-person twin that mirrors, predicts, explains and simulates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6E6E"/>
                </a:solidFill>
              </a:rPr>
              <a:t>1 · DATA SOURCES</a:t>
            </a:r>
            <a:endParaRPr lang="en-US" sz="1100" dirty="0"/>
          </a:p>
        </p:txBody>
      </p:sp>
      <p:sp>
        <p:nvSpPr>
          <p:cNvPr id="5" name="card_Wearable"/>
          <p:cNvSpPr/>
          <p:nvPr/>
        </p:nvSpPr>
        <p:spPr>
          <a:xfrm>
            <a:off x="411480" y="178308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91109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984248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78408" y="185623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Wearable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Sleep, sleep onset &amp; efficiency, resting HR, HRV, steps</a:t>
            </a:r>
            <a:endParaRPr lang="en-US" sz="1200" dirty="0"/>
          </a:p>
        </p:txBody>
      </p:sp>
      <p:sp>
        <p:nvSpPr>
          <p:cNvPr id="9" name="card_Smartphone"/>
          <p:cNvSpPr/>
          <p:nvPr/>
        </p:nvSpPr>
        <p:spPr>
          <a:xfrm>
            <a:off x="411480" y="283464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0352" y="296265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303580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78408" y="290779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Smartphone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Late-night screen time, social contacts (counts only)</a:t>
            </a:r>
            <a:endParaRPr lang="en-US" sz="1200" dirty="0"/>
          </a:p>
        </p:txBody>
      </p:sp>
      <p:sp>
        <p:nvSpPr>
          <p:cNvPr id="13" name="card_Health record"/>
          <p:cNvSpPr/>
          <p:nvPr/>
        </p:nvSpPr>
        <p:spPr>
          <a:xfrm>
            <a:off x="411480" y="388620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0352" y="401421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08736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78408" y="395935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Health record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PHQ-9, diagnoses (ICD-10), medication, history</a:t>
            </a:r>
            <a:endParaRPr lang="en-US" sz="1200" dirty="0"/>
          </a:p>
        </p:txBody>
      </p:sp>
      <p:sp>
        <p:nvSpPr>
          <p:cNvPr id="17" name="card_Context calendar"/>
          <p:cNvSpPr/>
          <p:nvPr/>
        </p:nvSpPr>
        <p:spPr>
          <a:xfrm>
            <a:off x="411480" y="493776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30352" y="506577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13892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78408" y="501091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Context calendar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Exam seasons, quarter-end and appraisal cycles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283464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6E6E"/>
                </a:solidFill>
              </a:rPr>
              <a:t>2 · CONSENT &amp; INGESTION</a:t>
            </a:r>
            <a:endParaRPr lang="en-US" sz="1100" dirty="0"/>
          </a:p>
        </p:txBody>
      </p:sp>
      <p:sp>
        <p:nvSpPr>
          <p:cNvPr id="22" name="card_Consent manager"/>
          <p:cNvSpPr/>
          <p:nvPr/>
        </p:nvSpPr>
        <p:spPr>
          <a:xfrm>
            <a:off x="2834640" y="178308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dash"/>
          </a:ln>
        </p:spPr>
      </p:sp>
      <p:sp>
        <p:nvSpPr>
          <p:cNvPr id="23" name="Shape 17"/>
          <p:cNvSpPr/>
          <p:nvPr/>
        </p:nvSpPr>
        <p:spPr>
          <a:xfrm>
            <a:off x="2953512" y="191109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6664" y="1984248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3401568" y="185623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Consent manager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Explicit, revocable consent (DPDP Act 2023, ABDM flow)</a:t>
            </a:r>
            <a:endParaRPr lang="en-US" sz="1200" dirty="0"/>
          </a:p>
        </p:txBody>
      </p:sp>
      <p:sp>
        <p:nvSpPr>
          <p:cNvPr id="26" name="card_Pseudonymisation"/>
          <p:cNvSpPr/>
          <p:nvPr/>
        </p:nvSpPr>
        <p:spPr>
          <a:xfrm>
            <a:off x="2834640" y="283464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2953512" y="296265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6664" y="3035808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3401568" y="290779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Pseudonymisation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IDs only, data minimisation, aggregate views</a:t>
            </a:r>
            <a:endParaRPr lang="en-US" sz="1200" dirty="0"/>
          </a:p>
        </p:txBody>
      </p:sp>
      <p:sp>
        <p:nvSpPr>
          <p:cNvPr id="30" name="card_FHIR normaliser"/>
          <p:cNvSpPr/>
          <p:nvPr/>
        </p:nvSpPr>
        <p:spPr>
          <a:xfrm>
            <a:off x="2834640" y="388620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2953512" y="401421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6664" y="4087368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3401568" y="395935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FHIR normaliser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FHIR R4 bundles · LOINC, ICD-10, ATC codes</a:t>
            </a:r>
            <a:endParaRPr lang="en-US" sz="1200" dirty="0"/>
          </a:p>
        </p:txBody>
      </p:sp>
      <p:sp>
        <p:nvSpPr>
          <p:cNvPr id="34" name="card_Data quality"/>
          <p:cNvSpPr/>
          <p:nvPr/>
        </p:nvSpPr>
        <p:spPr>
          <a:xfrm>
            <a:off x="2834640" y="493776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2953512" y="506577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6664" y="5138928"/>
            <a:ext cx="201168" cy="201168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3401568" y="501091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Data quality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Gap and non-wear detection, unit checks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5257800" y="13716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6E6E"/>
                </a:solidFill>
              </a:rPr>
              <a:t>3 · DIGITAL TWIN CORE (PER PERSON)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5257800" y="1783080"/>
            <a:ext cx="3794760" cy="4050792"/>
          </a:xfrm>
          <a:prstGeom prst="roundRect">
            <a:avLst>
              <a:gd name="adj" fmla="val 2410"/>
            </a:avLst>
          </a:prstGeom>
          <a:solidFill>
            <a:srgbClr val="EAF3F2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40" name="card_Personal Baseline Engine"/>
          <p:cNvSpPr/>
          <p:nvPr/>
        </p:nvSpPr>
        <p:spPr>
          <a:xfrm>
            <a:off x="5422392" y="1947672"/>
            <a:ext cx="34655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5550408" y="202082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Personal Baseline Engine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45-day rolling 'normal' for every signal, re-learned daily · features.py</a:t>
            </a:r>
            <a:endParaRPr lang="en-US" sz="1200" dirty="0"/>
          </a:p>
        </p:txBody>
      </p:sp>
      <p:sp>
        <p:nvSpPr>
          <p:cNvPr id="42" name="card_Twin State &amp; Drift Index"/>
          <p:cNvSpPr/>
          <p:nvPr/>
        </p:nvSpPr>
        <p:spPr>
          <a:xfrm>
            <a:off x="5422392" y="2862072"/>
            <a:ext cx="34655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5550408" y="293522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Twin State &amp; Drift Index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Last 3/7 days vs personal normal (z-scores), week-on-week change</a:t>
            </a:r>
            <a:endParaRPr lang="en-US" sz="1200" dirty="0"/>
          </a:p>
        </p:txBody>
      </p:sp>
      <p:sp>
        <p:nvSpPr>
          <p:cNvPr id="44" name="card_Risk Engine"/>
          <p:cNvSpPr/>
          <p:nvPr/>
        </p:nvSpPr>
        <p:spPr>
          <a:xfrm>
            <a:off x="5422392" y="3776472"/>
            <a:ext cx="16504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5550408" y="3849624"/>
            <a:ext cx="14310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Risk Engine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XGBoost · P(episode starts within 7 days) · train.py</a:t>
            </a:r>
            <a:endParaRPr lang="en-US" sz="1200" dirty="0"/>
          </a:p>
        </p:txBody>
      </p:sp>
      <p:sp>
        <p:nvSpPr>
          <p:cNvPr id="46" name="card_Explainer"/>
          <p:cNvSpPr/>
          <p:nvPr/>
        </p:nvSpPr>
        <p:spPr>
          <a:xfrm>
            <a:off x="7237476" y="3776472"/>
            <a:ext cx="16504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7365492" y="3849624"/>
            <a:ext cx="14310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Explainer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SHAP → plain-language reasons per alert</a:t>
            </a:r>
            <a:endParaRPr lang="en-US" sz="1200" dirty="0"/>
          </a:p>
        </p:txBody>
      </p:sp>
      <p:sp>
        <p:nvSpPr>
          <p:cNvPr id="48" name="card_What-if Simulator"/>
          <p:cNvSpPr/>
          <p:nvPr/>
        </p:nvSpPr>
        <p:spPr>
          <a:xfrm>
            <a:off x="5422392" y="4855464"/>
            <a:ext cx="1650492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5550408" y="4928616"/>
            <a:ext cx="14310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What-if Simulator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Re-run twin under changed routine · twin.py</a:t>
            </a:r>
            <a:endParaRPr lang="en-US" sz="1200" dirty="0"/>
          </a:p>
        </p:txBody>
      </p:sp>
      <p:sp>
        <p:nvSpPr>
          <p:cNvPr id="50" name="card_Twin store"/>
          <p:cNvSpPr/>
          <p:nvPr/>
        </p:nvSpPr>
        <p:spPr>
          <a:xfrm>
            <a:off x="7237476" y="4855464"/>
            <a:ext cx="1650492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7365492" y="4928616"/>
            <a:ext cx="14310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Twin store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Per-person state, history, model version</a:t>
            </a:r>
            <a:endParaRPr lang="en-US" sz="1200" dirty="0"/>
          </a:p>
        </p:txBody>
      </p:sp>
      <p:sp>
        <p:nvSpPr>
          <p:cNvPr id="52" name="Shape 42"/>
          <p:cNvSpPr/>
          <p:nvPr/>
        </p:nvSpPr>
        <p:spPr>
          <a:xfrm>
            <a:off x="7155180" y="2697480"/>
            <a:ext cx="0" cy="164592"/>
          </a:xfrm>
          <a:prstGeom prst="line">
            <a:avLst/>
          </a:prstGeom>
          <a:noFill/>
          <a:ln w="1905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53" name="Shape 43"/>
          <p:cNvSpPr/>
          <p:nvPr/>
        </p:nvSpPr>
        <p:spPr>
          <a:xfrm>
            <a:off x="7155180" y="3611880"/>
            <a:ext cx="0" cy="164592"/>
          </a:xfrm>
          <a:prstGeom prst="line">
            <a:avLst/>
          </a:prstGeom>
          <a:noFill/>
          <a:ln w="1905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54" name="Text 44"/>
          <p:cNvSpPr txBox="1"/>
          <p:nvPr/>
        </p:nvSpPr>
        <p:spPr>
          <a:xfrm>
            <a:off x="9372600" y="1371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6E6E"/>
                </a:solidFill>
              </a:rPr>
              <a:t>4 · INTERFACES</a:t>
            </a:r>
            <a:endParaRPr lang="en-US" sz="1100" dirty="0"/>
          </a:p>
        </p:txBody>
      </p:sp>
      <p:sp>
        <p:nvSpPr>
          <p:cNvPr id="55" name="card_Person view"/>
          <p:cNvSpPr/>
          <p:nvPr/>
        </p:nvSpPr>
        <p:spPr>
          <a:xfrm>
            <a:off x="9372600" y="1783080"/>
            <a:ext cx="24231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9491472" y="1911096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4624" y="1984248"/>
            <a:ext cx="201168" cy="201168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9939528" y="1856232"/>
            <a:ext cx="17647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Person view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Mirror vs your normal, gentle nudges, what-if</a:t>
            </a:r>
            <a:endParaRPr lang="en-US" sz="1200" dirty="0"/>
          </a:p>
        </p:txBody>
      </p:sp>
      <p:sp>
        <p:nvSpPr>
          <p:cNvPr id="59" name="card_Counsellor / clinician"/>
          <p:cNvSpPr/>
          <p:nvPr/>
        </p:nvSpPr>
        <p:spPr>
          <a:xfrm>
            <a:off x="9372600" y="3172968"/>
            <a:ext cx="24231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9491472" y="3300984"/>
            <a:ext cx="347472" cy="34747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4624" y="3374136"/>
            <a:ext cx="201168" cy="201168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9939528" y="3246120"/>
            <a:ext cx="17647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Counsellor / clinician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Risk-ranked caseload, reasons, PHQ-9 trend, FHIR record</a:t>
            </a:r>
            <a:endParaRPr lang="en-US" sz="1200" dirty="0"/>
          </a:p>
        </p:txBody>
      </p:sp>
      <p:sp>
        <p:nvSpPr>
          <p:cNvPr id="63" name="card_Alert pathway"/>
          <p:cNvSpPr/>
          <p:nvPr/>
        </p:nvSpPr>
        <p:spPr>
          <a:xfrm>
            <a:off x="9372600" y="4562856"/>
            <a:ext cx="2423160" cy="1271016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9491472" y="4690872"/>
            <a:ext cx="347472" cy="347472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4624" y="4764024"/>
            <a:ext cx="201168" cy="201168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9939528" y="4636008"/>
            <a:ext cx="176479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313D"/>
                </a:solidFill>
              </a:rPr>
              <a:t>Alert pathway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3"/>
                </a:solidFill>
              </a:rPr>
              <a:t>Counsellor check-in within 48 h and repeat PHQ-9. Crisis line: Tele-MANAS 14416</a:t>
            </a:r>
            <a:endParaRPr lang="en-US" sz="1200" dirty="0"/>
          </a:p>
        </p:txBody>
      </p:sp>
      <p:sp>
        <p:nvSpPr>
          <p:cNvPr id="67" name="Shape 54"/>
          <p:cNvSpPr/>
          <p:nvPr/>
        </p:nvSpPr>
        <p:spPr>
          <a:xfrm>
            <a:off x="2551176" y="3703320"/>
            <a:ext cx="246888" cy="0"/>
          </a:xfrm>
          <a:prstGeom prst="line">
            <a:avLst/>
          </a:prstGeom>
          <a:noFill/>
          <a:ln w="25400">
            <a:solidFill>
              <a:srgbClr val="14313D"/>
            </a:solidFill>
            <a:prstDash val="solid"/>
            <a:tailEnd type="triangle"/>
          </a:ln>
        </p:spPr>
      </p:sp>
      <p:sp>
        <p:nvSpPr>
          <p:cNvPr id="68" name="Shape 55"/>
          <p:cNvSpPr/>
          <p:nvPr/>
        </p:nvSpPr>
        <p:spPr>
          <a:xfrm>
            <a:off x="4974336" y="3703320"/>
            <a:ext cx="246888" cy="0"/>
          </a:xfrm>
          <a:prstGeom prst="line">
            <a:avLst/>
          </a:prstGeom>
          <a:noFill/>
          <a:ln w="25400">
            <a:solidFill>
              <a:srgbClr val="14313D"/>
            </a:solidFill>
            <a:prstDash val="solid"/>
            <a:tailEnd type="triangle"/>
          </a:ln>
        </p:spPr>
      </p:sp>
      <p:sp>
        <p:nvSpPr>
          <p:cNvPr id="69" name="Shape 56"/>
          <p:cNvSpPr/>
          <p:nvPr/>
        </p:nvSpPr>
        <p:spPr>
          <a:xfrm>
            <a:off x="9089136" y="3703320"/>
            <a:ext cx="246888" cy="0"/>
          </a:xfrm>
          <a:prstGeom prst="line">
            <a:avLst/>
          </a:prstGeom>
          <a:noFill/>
          <a:ln w="25400">
            <a:solidFill>
              <a:srgbClr val="14313D"/>
            </a:solidFill>
            <a:prstDash val="solid"/>
            <a:tailEnd type="triangle"/>
          </a:ln>
        </p:spPr>
      </p:sp>
      <p:sp>
        <p:nvSpPr>
          <p:cNvPr id="70" name="Shape 57"/>
          <p:cNvSpPr/>
          <p:nvPr/>
        </p:nvSpPr>
        <p:spPr>
          <a:xfrm>
            <a:off x="5257800" y="6053328"/>
            <a:ext cx="6537960" cy="457200"/>
          </a:xfrm>
          <a:prstGeom prst="roundRect">
            <a:avLst>
              <a:gd name="adj" fmla="val 16000"/>
            </a:avLst>
          </a:prstGeom>
          <a:solidFill>
            <a:srgbClr val="FBF0DE"/>
          </a:solidFill>
          <a:ln w="12700">
            <a:solidFill>
              <a:srgbClr val="E8A33D"/>
            </a:solidFill>
            <a:prstDash val="dash"/>
          </a:ln>
        </p:spPr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4960" y="6153912"/>
            <a:ext cx="256032" cy="256032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5760720" y="60533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313D"/>
                </a:solidFill>
              </a:rPr>
              <a:t>Feedback loop: confirmed outcomes from counsellors → recalibrate thresholds and retrain</a:t>
            </a:r>
            <a:endParaRPr lang="en-US" sz="1100" dirty="0"/>
          </a:p>
        </p:txBody>
      </p:sp>
      <p:sp>
        <p:nvSpPr>
          <p:cNvPr id="73" name="Shape 59"/>
          <p:cNvSpPr/>
          <p:nvPr/>
        </p:nvSpPr>
        <p:spPr>
          <a:xfrm>
            <a:off x="411480" y="6163056"/>
            <a:ext cx="36576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solid"/>
          </a:ln>
        </p:spPr>
      </p:sp>
      <p:sp>
        <p:nvSpPr>
          <p:cNvPr id="74" name="Text 60"/>
          <p:cNvSpPr txBox="1"/>
          <p:nvPr/>
        </p:nvSpPr>
        <p:spPr>
          <a:xfrm>
            <a:off x="868680" y="61264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</a:rPr>
              <a:t>Built in this PoC</a:t>
            </a:r>
            <a:endParaRPr lang="en-US" sz="1000" dirty="0"/>
          </a:p>
        </p:txBody>
      </p:sp>
      <p:sp>
        <p:nvSpPr>
          <p:cNvPr id="75" name="Shape 61"/>
          <p:cNvSpPr/>
          <p:nvPr/>
        </p:nvSpPr>
        <p:spPr>
          <a:xfrm>
            <a:off x="2331720" y="6163056"/>
            <a:ext cx="36576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9C4C4"/>
            </a:solidFill>
            <a:prstDash val="dash"/>
          </a:ln>
        </p:spPr>
      </p:sp>
      <p:sp>
        <p:nvSpPr>
          <p:cNvPr id="76" name="Text 62"/>
          <p:cNvSpPr txBox="1"/>
          <p:nvPr/>
        </p:nvSpPr>
        <p:spPr>
          <a:xfrm>
            <a:off x="2788920" y="6126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</a:rPr>
              <a:t>Designed, roadmap</a:t>
            </a:r>
            <a:endParaRPr lang="en-US" sz="1000" dirty="0"/>
          </a:p>
        </p:txBody>
      </p:sp>
      <p:sp>
        <p:nvSpPr>
          <p:cNvPr id="77" name="Text 63"/>
          <p:cNvSpPr txBox="1"/>
          <p:nvPr/>
        </p:nvSpPr>
        <p:spPr>
          <a:xfrm>
            <a:off x="4114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</a:rPr>
              <a:t>PoC runs on synthetic data · src/simulator.py feeds the same pipeline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s Twin">
  <a:themeElements>
    <a:clrScheme name="Manas Twin">
      <a:dk1>
        <a:srgbClr val="14313D"/>
      </a:dk1>
      <a:lt1>
        <a:srgbClr val="FFFFFF"/>
      </a:lt1>
      <a:dk2>
        <a:srgbClr val="0F6E6E"/>
      </a:dk2>
      <a:lt2>
        <a:srgbClr val="EAF3F2"/>
      </a:lt2>
      <a:accent1>
        <a:srgbClr val="0F6E6E"/>
      </a:accent1>
      <a:accent2>
        <a:srgbClr val="E8A33D"/>
      </a:accent2>
      <a:accent3>
        <a:srgbClr val="C8553D"/>
      </a:accent3>
      <a:accent4>
        <a:srgbClr val="7FB7A6"/>
      </a:accent4>
      <a:accent5>
        <a:srgbClr val="5B6B73"/>
      </a:accent5>
      <a:accent6>
        <a:srgbClr val="B9C4C4"/>
      </a:accent6>
      <a:hlink>
        <a:srgbClr val="0F6E6E"/>
      </a:hlink>
      <a:folHlink>
        <a:srgbClr val="5B6B73"/>
      </a:folHlink>
    </a:clrScheme>
    <a:fontScheme name="Manas Tw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Manas Twin - Architecture</dc:title>
  <dc:subject>PptxGenJS Presentation</dc:subject>
  <dc:creator>PptxGenJS</dc:creator>
  <cp:lastModifiedBy>PptxGenJS</cp:lastModifiedBy>
  <cp:revision>1</cp:revision>
  <dcterms:created xsi:type="dcterms:W3CDTF">2026-10-09T10:22:14Z</dcterms:created>
  <dcterms:modified xsi:type="dcterms:W3CDTF">2026-10-09T10:22:14Z</dcterms:modified>
</cp:coreProperties>
</file>